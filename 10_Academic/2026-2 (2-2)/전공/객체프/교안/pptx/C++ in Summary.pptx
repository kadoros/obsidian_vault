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7" r:id="rId3"/>
    <p:sldId id="298" r:id="rId4"/>
    <p:sldId id="267" r:id="rId5"/>
    <p:sldId id="268" r:id="rId6"/>
    <p:sldId id="269" r:id="rId7"/>
    <p:sldId id="270" r:id="rId8"/>
    <p:sldId id="271" r:id="rId9"/>
    <p:sldId id="274" r:id="rId10"/>
    <p:sldId id="276" r:id="rId11"/>
    <p:sldId id="278" r:id="rId12"/>
    <p:sldId id="327" r:id="rId13"/>
    <p:sldId id="277" r:id="rId14"/>
    <p:sldId id="300" r:id="rId15"/>
    <p:sldId id="256" r:id="rId16"/>
    <p:sldId id="313" r:id="rId17"/>
    <p:sldId id="317" r:id="rId18"/>
    <p:sldId id="306" r:id="rId19"/>
    <p:sldId id="307" r:id="rId20"/>
    <p:sldId id="279" r:id="rId21"/>
    <p:sldId id="325" r:id="rId22"/>
    <p:sldId id="301" r:id="rId23"/>
    <p:sldId id="326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76"/>
    <p:restoredTop sz="94695"/>
  </p:normalViewPr>
  <p:slideViewPr>
    <p:cSldViewPr>
      <p:cViewPr varScale="1">
        <p:scale>
          <a:sx n="190" d="100"/>
          <a:sy n="190" d="100"/>
        </p:scale>
        <p:origin x="15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2Oi0jynRy9E" TargetMode="External"/><Relationship Id="rId3" Type="http://schemas.openxmlformats.org/officeDocument/2006/relationships/hyperlink" Target="https://youtu.be/vLnPwxZdW4Y" TargetMode="External"/><Relationship Id="rId4" Type="http://schemas.openxmlformats.org/officeDocument/2006/relationships/hyperlink" Target="https://youtu.be/aw9wHbFTnAQ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tiff"/><Relationship Id="rId3" Type="http://schemas.openxmlformats.org/officeDocument/2006/relationships/image" Target="../media/image23.tiff"/><Relationship Id="rId4" Type="http://schemas.openxmlformats.org/officeDocument/2006/relationships/image" Target="../media/image24.tif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tif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tif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tif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tif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tif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tif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26070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b="1" dirty="0"/>
              <a:t>C++ in Summary 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7A0B4-E179-0041-AF30-8038E8F1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u="sng" dirty="0"/>
              <a:t>1. C++ Compiler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70207-D8F7-B14F-9E06-74A7AB44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257800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ko-KR" b="1" dirty="0"/>
              <a:t>Compiler</a:t>
            </a:r>
          </a:p>
          <a:p>
            <a:pPr lvl="1"/>
            <a:r>
              <a:rPr kumimoji="1" lang="en-US" altLang="ko-KR" dirty="0"/>
              <a:t>Converting high-level language code to machine language code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C++ compiler generates executable file (binary code) from C++ source code (files).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Visual Studio 20xx</a:t>
            </a:r>
          </a:p>
          <a:p>
            <a:pPr lvl="1"/>
            <a:r>
              <a:rPr kumimoji="1" lang="en-US" altLang="ko-KR" dirty="0"/>
              <a:t>Installed in our PC rooms (Building 208 4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, 5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, 6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 floors)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g++ (LINUX, macOS, MS Windows, </a:t>
            </a:r>
            <a:r>
              <a:rPr kumimoji="1" lang="en-US" altLang="ko-KR" dirty="0" err="1"/>
              <a:t>cygwin</a:t>
            </a:r>
            <a:r>
              <a:rPr kumimoji="1" lang="en-US" altLang="ko-KR" dirty="0"/>
              <a:t>, …)</a:t>
            </a:r>
          </a:p>
          <a:p>
            <a:pPr marL="457200" lvl="1" indent="0">
              <a:buNone/>
            </a:pPr>
            <a:r>
              <a:rPr kumimoji="1" lang="en-US" altLang="ko-KR" dirty="0"/>
              <a:t>&gt; g++ -o </a:t>
            </a:r>
            <a:r>
              <a:rPr kumimoji="1" lang="en-US" altLang="ko-KR" dirty="0" err="1"/>
              <a:t>TestProg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TestProg.cpp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/>
              <a:t>./</a:t>
            </a:r>
            <a:r>
              <a:rPr kumimoji="1" lang="en-US" altLang="ko-KR" dirty="0" err="1"/>
              <a:t>TestProg</a:t>
            </a:r>
            <a:r>
              <a:rPr kumimoji="1" lang="en-US" altLang="ko-KR" dirty="0"/>
              <a:t> </a:t>
            </a:r>
          </a:p>
          <a:p>
            <a:pPr>
              <a:buFont typeface="Wingdings" pitchFamily="2" charset="2"/>
              <a:buChar char="Ø"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3419495-A827-9F5B-26D6-5A5B29C3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340" y="2276873"/>
            <a:ext cx="1320119" cy="792088"/>
          </a:xfrm>
          <a:prstGeom prst="roundRect">
            <a:avLst>
              <a:gd name="adj" fmla="val 16667"/>
            </a:avLst>
          </a:prstGeom>
          <a:solidFill>
            <a:srgbClr val="FFF3FF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Compiler</a:t>
            </a:r>
            <a:endParaRPr lang="ko-KR" altLang="en-US" sz="1400">
              <a:latin typeface="Tahoma" panose="020B060403050404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DFB599-2CD8-817D-5646-50825B3C2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2276873"/>
            <a:ext cx="1440358" cy="792088"/>
          </a:xfrm>
          <a:prstGeom prst="rect">
            <a:avLst/>
          </a:prstGeom>
          <a:solidFill>
            <a:srgbClr val="ECFFD9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 dirty="0">
                <a:latin typeface="Tahoma" panose="020B0604030504040204" pitchFamily="34" charset="0"/>
              </a:rPr>
              <a:t>C++ program</a:t>
            </a:r>
            <a:endParaRPr lang="ko-KR" altLang="en-US" sz="1400" dirty="0">
              <a:latin typeface="Tahoma" panose="020B0604030504040204" pitchFamily="34" charset="0"/>
            </a:endParaRPr>
          </a:p>
          <a:p>
            <a:pPr algn="ctr" eaLnBrk="1" hangingPunct="1"/>
            <a:endParaRPr lang="ko-KR" altLang="en-US" sz="1400" dirty="0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ko-KR" sz="1400" dirty="0">
                <a:latin typeface="Tahoma" panose="020B0604030504040204" pitchFamily="34" charset="0"/>
              </a:rPr>
              <a:t>int main…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DCFCEA7-427D-F915-9D1C-714F95213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928" y="2276873"/>
            <a:ext cx="1223392" cy="792088"/>
          </a:xfrm>
          <a:prstGeom prst="rect">
            <a:avLst/>
          </a:prstGeom>
          <a:solidFill>
            <a:srgbClr val="ECFFD9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Machine </a:t>
            </a:r>
          </a:p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language</a:t>
            </a:r>
            <a:endParaRPr lang="ko-KR" altLang="en-US" sz="1400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010101…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A2FBAF89-B677-D789-8EA4-28D45A7AA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103" y="2565797"/>
            <a:ext cx="359792" cy="39542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E69E9D72-DE6A-BE4E-1C82-F6155554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03" y="2565797"/>
            <a:ext cx="359792" cy="39542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7444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7A0B4-E179-0041-AF30-8038E8F1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b="1" u="sng" dirty="0"/>
              <a:t>2. Useful </a:t>
            </a:r>
            <a:r>
              <a:rPr kumimoji="1" lang="en-US" altLang="ko-KR" b="1" u="sng" dirty="0" err="1"/>
              <a:t>Youtube</a:t>
            </a:r>
            <a:r>
              <a:rPr kumimoji="1" lang="en-US" altLang="ko-KR" b="1" u="sng" dirty="0"/>
              <a:t> Tutorials for  C++ Beginner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70207-D8F7-B14F-9E06-74A7AB44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27373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ko-KR" dirty="0"/>
              <a:t>Compile C++ with Visual Studio 2017</a:t>
            </a:r>
          </a:p>
          <a:p>
            <a:pPr marL="0" indent="0">
              <a:buNone/>
            </a:pPr>
            <a:r>
              <a:rPr kumimoji="1" lang="en-US" altLang="ko-KR" dirty="0"/>
              <a:t>         </a:t>
            </a:r>
            <a:r>
              <a:rPr kumimoji="1" lang="en-US" altLang="ko-KR" dirty="0">
                <a:hlinkClick r:id="rId2"/>
              </a:rPr>
              <a:t>https://youtu.be/2Oi0jynRy9E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en-US" altLang="ko-KR" dirty="0"/>
              <a:t>C++ Tutorial for Beginners – Full Course</a:t>
            </a:r>
          </a:p>
          <a:p>
            <a:pPr marL="0" indent="0">
              <a:buNone/>
            </a:pPr>
            <a:r>
              <a:rPr kumimoji="1" lang="en-US" altLang="ko-KR" dirty="0"/>
              <a:t>        </a:t>
            </a:r>
            <a:r>
              <a:rPr kumimoji="1" lang="en-US" altLang="ko-KR" dirty="0">
                <a:hlinkClick r:id="rId3"/>
              </a:rPr>
              <a:t>https://youtu.be/vLnPwxZdW4Y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en-US" altLang="ko-KR" dirty="0"/>
              <a:t>Using </a:t>
            </a:r>
            <a:r>
              <a:rPr kumimoji="1" lang="en-US" altLang="ko-KR" dirty="0" err="1"/>
              <a:t>Makefile</a:t>
            </a:r>
            <a:r>
              <a:rPr kumimoji="1" lang="en-US" altLang="ko-KR" dirty="0"/>
              <a:t> for compiling multiple C++ source files</a:t>
            </a:r>
          </a:p>
          <a:p>
            <a:pPr marL="0" indent="0">
              <a:buNone/>
            </a:pPr>
            <a:r>
              <a:rPr kumimoji="1" lang="en-US" altLang="ko-KR" dirty="0"/>
              <a:t>        </a:t>
            </a:r>
            <a:r>
              <a:rPr kumimoji="1" lang="en-US" altLang="ko-KR" dirty="0">
                <a:hlinkClick r:id="rId4"/>
              </a:rPr>
              <a:t>https://youtu.be/aw9wHbFTnAQ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732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 : 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 b="1" u="sng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/>
          <a:srcRect l="5675" t="5675" r="34335" b="26953"/>
          <a:stretch>
            <a:fillRect/>
          </a:stretch>
        </p:blipFill>
        <p:spPr bwMode="auto">
          <a:xfrm>
            <a:off x="1500188" y="1857375"/>
            <a:ext cx="5800725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1785938"/>
            <a:ext cx="75819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2000250"/>
            <a:ext cx="4192588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000250"/>
            <a:ext cx="4214812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571750" y="5214938"/>
            <a:ext cx="642938" cy="357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018213" y="3606800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018213" y="3044825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643813" y="5286375"/>
            <a:ext cx="57150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2150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 cstate="print"/>
          <a:srcRect l="2678" t="2856" r="37500" b="29285"/>
          <a:stretch>
            <a:fillRect/>
          </a:stretch>
        </p:blipFill>
        <p:spPr bwMode="auto">
          <a:xfrm>
            <a:off x="1643063" y="1878013"/>
            <a:ext cx="5715000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63" y="2449513"/>
            <a:ext cx="4148137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786063" y="2949575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8" name="직선 화살표 연결선 7"/>
          <p:cNvCxnSpPr>
            <a:stCxn id="6" idx="3"/>
          </p:cNvCxnSpPr>
          <p:nvPr/>
        </p:nvCxnSpPr>
        <p:spPr>
          <a:xfrm>
            <a:off x="3643313" y="3055938"/>
            <a:ext cx="1000125" cy="10366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556792"/>
            <a:ext cx="6757736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9E2ADE57-1031-CB4E-8F48-F5A7DD91018B}"/>
              </a:ext>
            </a:extLst>
          </p:cNvPr>
          <p:cNvSpPr/>
          <p:nvPr/>
        </p:nvSpPr>
        <p:spPr>
          <a:xfrm>
            <a:off x="3203848" y="1700808"/>
            <a:ext cx="432048" cy="2160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CDA15DA-9E53-A544-A01B-D74C2496D58E}"/>
              </a:ext>
            </a:extLst>
          </p:cNvPr>
          <p:cNvCxnSpPr>
            <a:cxnSpLocks/>
          </p:cNvCxnSpPr>
          <p:nvPr/>
        </p:nvCxnSpPr>
        <p:spPr>
          <a:xfrm flipH="1" flipV="1">
            <a:off x="3635896" y="1844824"/>
            <a:ext cx="3240360" cy="9361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상자 7">
            <a:extLst>
              <a:ext uri="{FF2B5EF4-FFF2-40B4-BE49-F238E27FC236}">
                <a16:creationId xmlns:a16="http://schemas.microsoft.com/office/drawing/2014/main" id="{CDBD3BFF-FF06-F942-90D4-7EDC1CE87AA1}"/>
              </a:ext>
            </a:extLst>
          </p:cNvPr>
          <p:cNvSpPr txBox="1"/>
          <p:nvPr/>
        </p:nvSpPr>
        <p:spPr>
          <a:xfrm>
            <a:off x="6084168" y="2852936"/>
            <a:ext cx="1943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Build (compile) </a:t>
            </a:r>
          </a:p>
          <a:p>
            <a:r>
              <a:rPr kumimoji="1" lang="en-US" altLang="ko-KR" b="1" dirty="0">
                <a:solidFill>
                  <a:srgbClr val="FF0000"/>
                </a:solidFill>
              </a:rPr>
              <a:t>   &amp;</a:t>
            </a:r>
          </a:p>
          <a:p>
            <a:r>
              <a:rPr kumimoji="1" lang="en-US" altLang="ko-KR" b="1" dirty="0">
                <a:solidFill>
                  <a:srgbClr val="FF0000"/>
                </a:solidFill>
              </a:rPr>
              <a:t>execute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r="49630" b="-5405"/>
          <a:stretch>
            <a:fillRect/>
          </a:stretch>
        </p:blipFill>
        <p:spPr bwMode="auto">
          <a:xfrm>
            <a:off x="467544" y="1340768"/>
            <a:ext cx="6912769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49788" t="4422" b="81522"/>
          <a:stretch>
            <a:fillRect/>
          </a:stretch>
        </p:blipFill>
        <p:spPr bwMode="auto">
          <a:xfrm>
            <a:off x="611560" y="4149080"/>
            <a:ext cx="6625259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23528" y="5229200"/>
            <a:ext cx="8229600" cy="676672"/>
          </a:xfrm>
        </p:spPr>
        <p:txBody>
          <a:bodyPr/>
          <a:lstStyle/>
          <a:p>
            <a:r>
              <a:rPr lang="en-US" altLang="ko-KR" dirty="0"/>
              <a:t>It is OK to use C code in C++ program</a:t>
            </a:r>
            <a:endParaRPr lang="ko-KR" altLang="en-US" dirty="0"/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3297B4A1-8BB7-3FDE-C3DF-C86E4E81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3. “Hello World!” code</a:t>
            </a:r>
            <a:endParaRPr lang="ko-KR" altLang="en-US" b="1" u="sng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194693D-7CA1-5098-D8FA-B2E2C778845E}"/>
              </a:ext>
            </a:extLst>
          </p:cNvPr>
          <p:cNvCxnSpPr>
            <a:cxnSpLocks/>
          </p:cNvCxnSpPr>
          <p:nvPr/>
        </p:nvCxnSpPr>
        <p:spPr>
          <a:xfrm flipH="1">
            <a:off x="3059832" y="1844824"/>
            <a:ext cx="122413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4FF2B1-AFD6-7B1B-7648-563B23BA1813}"/>
              </a:ext>
            </a:extLst>
          </p:cNvPr>
          <p:cNvSpPr txBox="1"/>
          <p:nvPr/>
        </p:nvSpPr>
        <p:spPr>
          <a:xfrm>
            <a:off x="4283968" y="1628800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header file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4. Standard Input/Output</a:t>
            </a:r>
            <a:endParaRPr lang="ko-KR" altLang="en-US" b="1" u="sng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dirty="0"/>
              <a:t> : screen stream object </a:t>
            </a:r>
          </a:p>
          <a:p>
            <a:pPr marL="457200" lvl="1" indent="0">
              <a:buNone/>
            </a:pPr>
            <a:r>
              <a:rPr lang="en-US" altLang="ko-KR" dirty="0"/>
              <a:t>         (standard output)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2924944"/>
            <a:ext cx="72875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149080"/>
            <a:ext cx="7272808" cy="77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3" y="5157192"/>
            <a:ext cx="7231119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5877272"/>
            <a:ext cx="4824537" cy="6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47DED9A-142D-D068-C480-1A0916AEB8BA}"/>
              </a:ext>
            </a:extLst>
          </p:cNvPr>
          <p:cNvCxnSpPr>
            <a:cxnSpLocks/>
          </p:cNvCxnSpPr>
          <p:nvPr/>
        </p:nvCxnSpPr>
        <p:spPr>
          <a:xfrm flipH="1">
            <a:off x="6588224" y="2492896"/>
            <a:ext cx="792088" cy="6480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3BC79E-7D5D-7268-6C6C-B37092A1DB6B}"/>
              </a:ext>
            </a:extLst>
          </p:cNvPr>
          <p:cNvSpPr txBox="1"/>
          <p:nvPr/>
        </p:nvSpPr>
        <p:spPr>
          <a:xfrm>
            <a:off x="7257732" y="213285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comments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4. Standard Input/Output</a:t>
            </a:r>
            <a:endParaRPr lang="ko-KR" altLang="en-US" b="1" u="sng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ko-KR" dirty="0"/>
              <a:t> : keyboard stream object</a:t>
            </a:r>
          </a:p>
          <a:p>
            <a:pPr marL="0" indent="0">
              <a:buNone/>
            </a:pPr>
            <a:r>
              <a:rPr lang="en-US" altLang="ko-KR" dirty="0"/>
              <a:t>                   (standard input)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7" y="2348880"/>
            <a:ext cx="1550285" cy="715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7" y="2996952"/>
            <a:ext cx="5522243" cy="3149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6165304"/>
            <a:ext cx="4715914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745B2-9A9A-918E-EC97-16268244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ko-KR" b="1" u="sng" dirty="0"/>
              <a:t>Formatting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E5165-216F-F1BC-188E-CDE5B7B83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kumimoji="1" lang="en-US" altLang="ko-KR" dirty="0"/>
              <a:t>formatting similar to </a:t>
            </a:r>
            <a:r>
              <a:rPr kumimoji="1"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endParaRPr kumimoji="1" lang="en-US" altLang="ko-KR" dirty="0">
              <a:latin typeface="+mj-lt"/>
              <a:cs typeface="Courier New" panose="02070309020205020404" pitchFamily="49" charset="0"/>
            </a:endParaRPr>
          </a:p>
          <a:p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std::format</a:t>
            </a:r>
            <a:r>
              <a:rPr kumimoji="1" lang="en-US" altLang="ko-KR" dirty="0"/>
              <a:t> (C++20) </a:t>
            </a:r>
          </a:p>
          <a:p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std::print </a:t>
            </a:r>
            <a:r>
              <a:rPr kumimoji="1" lang="en-US" altLang="ko-KR" dirty="0"/>
              <a:t>(C++23)</a:t>
            </a:r>
            <a:endParaRPr kumimoji="1"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8A1CF45-4C83-86E3-7CA2-DB31FC75420E}"/>
              </a:ext>
            </a:extLst>
          </p:cNvPr>
          <p:cNvSpPr txBox="1">
            <a:spLocks/>
          </p:cNvSpPr>
          <p:nvPr/>
        </p:nvSpPr>
        <p:spPr>
          <a:xfrm>
            <a:off x="179512" y="2996952"/>
            <a:ext cx="5328592" cy="3789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ko-KR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src_print.cpp</a:t>
            </a:r>
            <a:endParaRPr lang="en" altLang="ko-K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cstdio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&lt;print&gt;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&lt;format&gt;</a:t>
            </a:r>
          </a:p>
          <a:p>
            <a:pPr marL="0" indent="0">
              <a:buNone/>
            </a:pPr>
            <a:b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marL="0" indent="0">
              <a:buNone/>
            </a:pPr>
            <a:b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double pi=3.141592;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int age = 21;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("pi=%7.2f , age=%d\n",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format("pi={:7.2f} , age={}\n",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print("pi={:7.2f} , age={}\n",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0;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ko-KR" altLang="en-US" sz="12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4D644D4-FD51-D5F4-C838-BD2E28DD571F}"/>
              </a:ext>
            </a:extLst>
          </p:cNvPr>
          <p:cNvSpPr txBox="1">
            <a:spLocks/>
          </p:cNvSpPr>
          <p:nvPr/>
        </p:nvSpPr>
        <p:spPr>
          <a:xfrm>
            <a:off x="5724128" y="2996952"/>
            <a:ext cx="3254748" cy="10343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ko-KR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[program output]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 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 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</a:t>
            </a:r>
          </a:p>
        </p:txBody>
      </p:sp>
    </p:spTree>
    <p:extLst>
      <p:ext uri="{BB962C8B-B14F-4D97-AF65-F5344CB8AC3E}">
        <p14:creationId xmlns:p14="http://schemas.microsoft.com/office/powerpoint/2010/main" val="125484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2266892-FDAD-2A28-C1A6-2A404002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5. Variables and Data Types</a:t>
            </a:r>
            <a:endParaRPr lang="ko-KR" altLang="en-US" b="1" u="sng" dirty="0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EF64A6A8-80CF-439A-3C02-01B0F7DE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75445"/>
            <a:ext cx="8229600" cy="4525963"/>
          </a:xfrm>
        </p:spPr>
        <p:txBody>
          <a:bodyPr/>
          <a:lstStyle/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2000" dirty="0"/>
              <a:t> (1 byte) : capable of holding one character (ascii code)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2000" dirty="0"/>
              <a:t>4 bytes) : integer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ko-KR" sz="2000" dirty="0"/>
              <a:t> (4</a:t>
            </a:r>
            <a:r>
              <a:rPr lang="ko-KR" altLang="en-US" sz="2000" dirty="0"/>
              <a:t> </a:t>
            </a:r>
            <a:r>
              <a:rPr lang="en-US" altLang="ko-KR" sz="2000" dirty="0"/>
              <a:t>bytes) : single-precision floating point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ko-KR" sz="2000" dirty="0"/>
              <a:t> (8 bytes) : double-precision floating point</a:t>
            </a:r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graphicFrame>
        <p:nvGraphicFramePr>
          <p:cNvPr id="4" name="Group 284">
            <a:extLst>
              <a:ext uri="{FF2B5EF4-FFF2-40B4-BE49-F238E27FC236}">
                <a16:creationId xmlns:a16="http://schemas.microsoft.com/office/drawing/2014/main" id="{B9C44B5D-E6EB-2F8F-C69E-7515EC61C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89666"/>
              </p:ext>
            </p:extLst>
          </p:nvPr>
        </p:nvGraphicFramePr>
        <p:xfrm>
          <a:off x="612775" y="4160317"/>
          <a:ext cx="8135938" cy="2233937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type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size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min value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max value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char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1byte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7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-128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7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127</a:t>
                      </a:r>
                      <a:endParaRPr kumimoji="0" lang="en-US" altLang="ko-K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short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2byte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15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-32,768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15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32,767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4byte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31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-2,147,483,648</a:t>
                      </a:r>
                      <a:endParaRPr kumimoji="0" lang="en-US" altLang="ko-K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31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2,147,483,647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1">
                <a:tc gridSpan="4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97" name="TextBox 4">
            <a:extLst>
              <a:ext uri="{FF2B5EF4-FFF2-40B4-BE49-F238E27FC236}">
                <a16:creationId xmlns:a16="http://schemas.microsoft.com/office/drawing/2014/main" id="{2C39A4CC-66ED-767D-4753-604696391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580" y="5805264"/>
            <a:ext cx="700063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dirty="0"/>
              <a:t> min/max values are defined in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&lt;limits&gt; </a:t>
            </a:r>
            <a:r>
              <a:rPr lang="en-US" altLang="ko-KR" dirty="0"/>
              <a:t>header file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dirty="0"/>
              <a:t> use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altLang="ko-KR" dirty="0"/>
              <a:t> type when representing only positive numbers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 char , unsigned short, unsigned int</a:t>
            </a:r>
            <a:endParaRPr lang="ko-KR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내용 개체 틀 9">
            <a:extLst>
              <a:ext uri="{FF2B5EF4-FFF2-40B4-BE49-F238E27FC236}">
                <a16:creationId xmlns:a16="http://schemas.microsoft.com/office/drawing/2014/main" id="{CE1414CA-FFF4-54E3-A682-67ED138286D0}"/>
              </a:ext>
            </a:extLst>
          </p:cNvPr>
          <p:cNvSpPr txBox="1">
            <a:spLocks/>
          </p:cNvSpPr>
          <p:nvPr/>
        </p:nvSpPr>
        <p:spPr>
          <a:xfrm>
            <a:off x="457200" y="1052736"/>
            <a:ext cx="8229600" cy="2044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Variable</a:t>
            </a:r>
          </a:p>
          <a:p>
            <a:pPr lvl="1"/>
            <a:r>
              <a:rPr lang="en-US" altLang="ko-KR" sz="1800" dirty="0"/>
              <a:t>Named memory location where data value is stored</a:t>
            </a:r>
          </a:p>
          <a:p>
            <a:pPr lvl="1"/>
            <a:r>
              <a:rPr lang="en-US" altLang="ko-KR" sz="1800" dirty="0"/>
              <a:t>Each variable has a certain type</a:t>
            </a:r>
          </a:p>
          <a:p>
            <a:pPr lvl="1"/>
            <a:r>
              <a:rPr lang="en-US" altLang="ko-KR" sz="1800" dirty="0"/>
              <a:t>Variables must be declared before use in a program</a:t>
            </a:r>
          </a:p>
          <a:p>
            <a:endParaRPr lang="en-US" altLang="ko-KR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0DED-2E77-E36B-4B8A-A978BC0C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CBF01C9-7101-9A3D-3B75-34899966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6. </a:t>
            </a:r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ko-KR" b="1" u="sng" dirty="0"/>
              <a:t> type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5F696D49-38AF-0B11-2C71-1D2D64DF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600200"/>
            <a:ext cx="8795320" cy="4525963"/>
          </a:xfrm>
        </p:spPr>
        <p:txBody>
          <a:bodyPr/>
          <a:lstStyle/>
          <a:p>
            <a:r>
              <a:rPr lang="en-US" altLang="ko-KR" sz="2400" dirty="0"/>
              <a:t>standard type for storing and manipulating text</a:t>
            </a:r>
          </a:p>
          <a:p>
            <a:pPr marL="0" indent="0">
              <a:buNone/>
            </a:pPr>
            <a:r>
              <a:rPr lang="ko-KR" altLang="en-US" sz="2400" dirty="0"/>
              <a:t> </a:t>
            </a:r>
            <a:r>
              <a:rPr lang="en-US" altLang="ko-KR" sz="2400" dirty="0"/>
              <a:t> </a:t>
            </a:r>
            <a:r>
              <a:rPr lang="ko-KR" altLang="en-US" sz="2400" dirty="0"/>
              <a:t> </a:t>
            </a:r>
            <a:r>
              <a:rPr lang="en-US" altLang="ko-KR" sz="2400" dirty="0"/>
              <a:t>(a class provided by the C++ standard library)</a:t>
            </a:r>
          </a:p>
          <a:p>
            <a:r>
              <a:rPr lang="en-US" altLang="ko-KR" sz="2400" dirty="0"/>
              <a:t>Unlike C-style strings (char *), </a:t>
            </a:r>
          </a:p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ko-KR" sz="2400" dirty="0"/>
              <a:t> automatically manages memory and </a:t>
            </a:r>
          </a:p>
          <a:p>
            <a:r>
              <a:rPr lang="en-US" altLang="ko-KR" sz="2400" dirty="0"/>
              <a:t>provides many convenient functions</a:t>
            </a:r>
          </a:p>
          <a:p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cin,str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400" dirty="0"/>
              <a:t> function is used to read a line of text.</a:t>
            </a:r>
          </a:p>
          <a:p>
            <a:endParaRPr lang="en-US" altLang="ko-KR" sz="2400" dirty="0"/>
          </a:p>
          <a:p>
            <a:r>
              <a:rPr lang="en-US" altLang="ko-KR" sz="2400" dirty="0"/>
              <a:t>Example code</a:t>
            </a:r>
          </a:p>
          <a:p>
            <a:pPr lvl="1"/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src_string.cpp</a:t>
            </a:r>
            <a:endParaRPr lang="en-US" altLang="ko-K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src_getline.cpp</a:t>
            </a:r>
            <a:endParaRPr lang="en-US" altLang="ko-K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1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B367D6-88BA-BA11-0955-55899AA463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4000" b="1" u="sng" dirty="0"/>
              <a:t>7 : Control Structures</a:t>
            </a:r>
            <a:br>
              <a:rPr lang="en-US" altLang="ko-KR" sz="4000" b="1" u="sng" dirty="0"/>
            </a:br>
            <a:r>
              <a:rPr lang="en-US" altLang="ko-KR" sz="4000" b="1" u="sng" dirty="0"/>
              <a:t>if, loop (while, for)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E6266941-1C6E-F918-D8E7-7F383109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Conditional Statement: if</a:t>
            </a:r>
            <a:endParaRPr lang="ko-KR" altLang="en-US" b="1" u="sng" dirty="0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90BCFFC2-D46A-6D48-7EF4-509D8AF7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block : enclosed by { } </a:t>
            </a:r>
          </a:p>
          <a:p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2800" dirty="0"/>
              <a:t> , </a:t>
            </a: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altLang="ko-KR" sz="2800" dirty="0"/>
              <a:t> , </a:t>
            </a: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– else if - else</a:t>
            </a:r>
          </a:p>
          <a:p>
            <a:endParaRPr lang="en-US" altLang="ko-KR" sz="2800" dirty="0"/>
          </a:p>
          <a:p>
            <a:r>
              <a:rPr lang="en-US" altLang="ko-KR" sz="2800" dirty="0"/>
              <a:t>Example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if ( num1 &gt;= num2 )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{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(“num1 is greater than num2\n“);  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(“The difference is: %d\n”, num1- num2);	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} else {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(“num2 is greater than or equal to num1\n”;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(“The difference is: %d\n”, num2 – num1);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endParaRPr lang="ko-KR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2C96F009-0DFF-8871-F7EF-78CADA5F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while - loop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9278A053-2B28-8FD6-D10C-2671FB62F152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557338"/>
            <a:ext cx="6264276" cy="4211638"/>
            <a:chOff x="748" y="981"/>
            <a:chExt cx="3946" cy="2653"/>
          </a:xfrm>
        </p:grpSpPr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6D9F52B6-EBFB-9B75-4275-8BDE52304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731"/>
              <a:ext cx="1406" cy="70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9989"/>
                  </a:moveTo>
                  <a:lnTo>
                    <a:pt x="9990" y="19977"/>
                  </a:lnTo>
                  <a:lnTo>
                    <a:pt x="0" y="9989"/>
                  </a:lnTo>
                  <a:lnTo>
                    <a:pt x="9990" y="0"/>
                  </a:lnTo>
                  <a:lnTo>
                    <a:pt x="19990" y="9989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17" name="Rectangle 5">
              <a:extLst>
                <a:ext uri="{FF2B5EF4-FFF2-40B4-BE49-F238E27FC236}">
                  <a16:creationId xmlns:a16="http://schemas.microsoft.com/office/drawing/2014/main" id="{D1537C9D-CB85-0B51-002F-40FAEA941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979"/>
              <a:ext cx="1306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num &lt;= 10</a:t>
              </a:r>
            </a:p>
            <a:p>
              <a:endParaRPr lang="ko-KR" altLang="en-US" sz="1200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18" name="Oval 6">
              <a:extLst>
                <a:ext uri="{FF2B5EF4-FFF2-40B4-BE49-F238E27FC236}">
                  <a16:creationId xmlns:a16="http://schemas.microsoft.com/office/drawing/2014/main" id="{F1BB08B8-337B-0C9B-0587-ECEF0862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81"/>
              <a:ext cx="82" cy="87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19" name="Oval 7">
              <a:extLst>
                <a:ext uri="{FF2B5EF4-FFF2-40B4-BE49-F238E27FC236}">
                  <a16:creationId xmlns:a16="http://schemas.microsoft.com/office/drawing/2014/main" id="{0BE589DF-8B9F-6B2D-1095-31053D14D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2841"/>
              <a:ext cx="82" cy="87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20" name="Rectangle 8">
              <a:extLst>
                <a:ext uri="{FF2B5EF4-FFF2-40B4-BE49-F238E27FC236}">
                  <a16:creationId xmlns:a16="http://schemas.microsoft.com/office/drawing/2014/main" id="{179D7C64-CCD0-51AD-0798-F7EB5340F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888"/>
              <a:ext cx="169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sum = sum + num;</a:t>
              </a:r>
            </a:p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  num = num + 1; </a:t>
              </a:r>
              <a:endParaRPr lang="en-US" altLang="ko-KR" sz="1200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1" name="Rectangle 9">
              <a:extLst>
                <a:ext uri="{FF2B5EF4-FFF2-40B4-BE49-F238E27FC236}">
                  <a16:creationId xmlns:a16="http://schemas.microsoft.com/office/drawing/2014/main" id="{4D2C411E-0151-32DC-71FF-08567EF2B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797"/>
              <a:ext cx="4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true</a:t>
              </a:r>
              <a:endParaRPr lang="en-US" altLang="ko-KR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2" name="Rectangle 10">
              <a:extLst>
                <a:ext uri="{FF2B5EF4-FFF2-40B4-BE49-F238E27FC236}">
                  <a16:creationId xmlns:a16="http://schemas.microsoft.com/office/drawing/2014/main" id="{1EA0901D-A15D-7F10-BBC2-8C57B66E2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478"/>
              <a:ext cx="52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false</a:t>
              </a:r>
              <a:endParaRPr lang="en-US" altLang="ko-KR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3" name="Line 11">
              <a:extLst>
                <a:ext uri="{FF2B5EF4-FFF2-40B4-BE49-F238E27FC236}">
                  <a16:creationId xmlns:a16="http://schemas.microsoft.com/office/drawing/2014/main" id="{F1C8CB6F-7031-5433-D1D3-F1953BC0E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2069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4" name="Line 12">
              <a:extLst>
                <a:ext uri="{FF2B5EF4-FFF2-40B4-BE49-F238E27FC236}">
                  <a16:creationId xmlns:a16="http://schemas.microsoft.com/office/drawing/2014/main" id="{660A3578-071A-72F5-9432-8E6336F39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3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5" name="Freeform 13">
              <a:extLst>
                <a:ext uri="{FF2B5EF4-FFF2-40B4-BE49-F238E27FC236}">
                  <a16:creationId xmlns:a16="http://schemas.microsoft.com/office/drawing/2014/main" id="{96AC438D-7C60-DF6B-F7EE-C2A088468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1842"/>
              <a:ext cx="1652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0"/>
                  </a:moveTo>
                  <a:lnTo>
                    <a:pt x="19990" y="19925"/>
                  </a:lnTo>
                  <a:lnTo>
                    <a:pt x="0" y="19925"/>
                  </a:lnTo>
                  <a:lnTo>
                    <a:pt x="0" y="0"/>
                  </a:lnTo>
                  <a:lnTo>
                    <a:pt x="19990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26" name="Line 14">
              <a:extLst>
                <a:ext uri="{FF2B5EF4-FFF2-40B4-BE49-F238E27FC236}">
                  <a16:creationId xmlns:a16="http://schemas.microsoft.com/office/drawing/2014/main" id="{D4F64960-9406-D8AE-EB4C-A69868756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661"/>
              <a:ext cx="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7" name="Line 15">
              <a:extLst>
                <a:ext uri="{FF2B5EF4-FFF2-40B4-BE49-F238E27FC236}">
                  <a16:creationId xmlns:a16="http://schemas.microsoft.com/office/drawing/2014/main" id="{64DD231B-CD18-0A9A-F303-F68325CA6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4" y="166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8" name="Line 16">
              <a:extLst>
                <a:ext uri="{FF2B5EF4-FFF2-40B4-BE49-F238E27FC236}">
                  <a16:creationId xmlns:a16="http://schemas.microsoft.com/office/drawing/2014/main" id="{C1DE954F-C347-1242-3924-E64499EFC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57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9" name="Text Box 17">
              <a:extLst>
                <a:ext uri="{FF2B5EF4-FFF2-40B4-BE49-F238E27FC236}">
                  <a16:creationId xmlns:a16="http://schemas.microsoft.com/office/drawing/2014/main" id="{22D8C1BD-1DD8-47F6-89C4-9BD3A316B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207"/>
              <a:ext cx="736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/>
                <a:t>num = 1;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b="1"/>
                <a:t>Sum = 0;</a:t>
              </a:r>
            </a:p>
          </p:txBody>
        </p:sp>
        <p:sp>
          <p:nvSpPr>
            <p:cNvPr id="13330" name="Line 18">
              <a:extLst>
                <a:ext uri="{FF2B5EF4-FFF2-40B4-BE49-F238E27FC236}">
                  <a16:creationId xmlns:a16="http://schemas.microsoft.com/office/drawing/2014/main" id="{20FD2B86-1D71-C3E3-10BA-BC8CF3887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07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1" name="Text Box 19">
              <a:extLst>
                <a:ext uri="{FF2B5EF4-FFF2-40B4-BE49-F238E27FC236}">
                  <a16:creationId xmlns:a16="http://schemas.microsoft.com/office/drawing/2014/main" id="{70885006-DC14-5DB5-6A58-8A6DB2CE8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387"/>
              <a:ext cx="1859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tIns="118800" bIns="118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num = 1;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 = 0;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while (num &lt;= 10) {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sum = sum + num;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num = num + 1;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}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B0BBE445-DB15-B158-827D-080050B0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for - loop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D3140-FF31-CF44-D862-E77632DE1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509545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ko-KR" sz="2800" dirty="0"/>
              <a:t>Repetition</a:t>
            </a:r>
          </a:p>
          <a:p>
            <a:pPr>
              <a:defRPr/>
            </a:pPr>
            <a:endParaRPr lang="en-US" altLang="ko-KR" sz="2800" dirty="0"/>
          </a:p>
          <a:p>
            <a:pPr>
              <a:defRPr/>
            </a:pPr>
            <a:endParaRPr lang="en-US" altLang="ko-KR" sz="2800" dirty="0"/>
          </a:p>
          <a:p>
            <a:pPr>
              <a:defRPr/>
            </a:pPr>
            <a:endParaRPr lang="en-US" altLang="ko-KR" sz="2800" dirty="0"/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endParaRPr lang="en-US" altLang="ko-KR" sz="18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control variable initialization</a:t>
            </a:r>
            <a:endParaRPr lang="ko-KR" altLang="en-US" sz="14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Test </a:t>
            </a:r>
            <a:r>
              <a:rPr lang="en-US" altLang="ko-KR" sz="1400" b="1" dirty="0" err="1">
                <a:latin typeface="Courier New" pitchFamily="49" charset="0"/>
              </a:rPr>
              <a:t>Conditon</a:t>
            </a:r>
            <a:endParaRPr lang="ko-KR" altLang="en-US" sz="14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Modification of control variable value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+mn-ea"/>
              </a:rPr>
              <a:t>   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ko-KR" sz="2000" b="1" dirty="0">
              <a:latin typeface="+mn-ea"/>
            </a:endParaRP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order : (1) (2) body (3) (2) body (3) (2) body … body (3) (2)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ko-KR" sz="1400" b="1" dirty="0">
              <a:latin typeface="+mn-ea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</a:rPr>
              <a:t>* </a:t>
            </a:r>
            <a:r>
              <a:rPr lang="en-US" altLang="ko-KR" sz="1400" b="1" dirty="0">
                <a:latin typeface="+mj-ea"/>
                <a:ea typeface="+mj-ea"/>
              </a:rPr>
              <a:t>Example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    sum=0;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    for(int num = 1; num &lt;= 10; num++ ) {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		sum += num;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		num++;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990600" lvl="1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ko-KR" altLang="en-US" sz="1800" dirty="0"/>
          </a:p>
          <a:p>
            <a:pPr>
              <a:buFont typeface="Wingdings" pitchFamily="2" charset="2"/>
              <a:buNone/>
              <a:defRPr/>
            </a:pPr>
            <a:endParaRPr lang="ko-KR" altLang="en-US" sz="2800" dirty="0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4F3C86BA-BB70-F6F5-44BC-A0781CC2E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85938"/>
            <a:ext cx="4968476" cy="11016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tIns="118800" bIns="118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 (1);    (2);   (3)   ) </a:t>
            </a:r>
          </a:p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ko-KR" sz="1400" b="1" dirty="0"/>
              <a:t>	</a:t>
            </a:r>
          </a:p>
          <a:p>
            <a:pPr eaLnBrk="1" hangingPunct="1"/>
            <a:r>
              <a:rPr lang="en-US" altLang="ko-KR" sz="1400" b="1" dirty="0"/>
              <a:t>       (body)</a:t>
            </a:r>
          </a:p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637DDA79-F9A5-4589-BDCF-CA1439914217}"/>
              </a:ext>
            </a:extLst>
          </p:cNvPr>
          <p:cNvGrpSpPr>
            <a:grpSpLocks/>
          </p:cNvGrpSpPr>
          <p:nvPr/>
        </p:nvGrpSpPr>
        <p:grpSpPr bwMode="auto">
          <a:xfrm>
            <a:off x="6021119" y="1322404"/>
            <a:ext cx="3159393" cy="4392612"/>
            <a:chOff x="1973" y="1071"/>
            <a:chExt cx="1335" cy="2409"/>
          </a:xfrm>
          <a:solidFill>
            <a:srgbClr val="FFC000"/>
          </a:solidFill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ACAF8E07-DC80-7B2C-3E25-A306A5A4E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842"/>
              <a:ext cx="726" cy="318"/>
            </a:xfrm>
            <a:prstGeom prst="flowChartDecision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(2)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CA65267F-3A0F-A52B-060D-4C5DAE658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2487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body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6FC1FB2F-4971-5C0C-0248-43C4AE1BB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570"/>
              <a:ext cx="0" cy="27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6C46D2C6-97B7-D1CF-1F56-18BA48529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160"/>
              <a:ext cx="0" cy="31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5C5B376-3FFC-4B1C-4896-A4AFED91C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344"/>
              <a:ext cx="0" cy="13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F41E83E6-3037-FD93-FC81-1BF0DCCEA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3" y="3480"/>
              <a:ext cx="635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9BE74FC-9EAC-D3FA-355F-A12A23634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3" y="1697"/>
              <a:ext cx="0" cy="177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D707ED2A-278E-A727-ED3F-8222580C9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1688"/>
              <a:ext cx="635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C2F6A0E-28F8-96BA-C84A-0850DB48D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000"/>
              <a:ext cx="181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EBA43ABC-F480-0B9D-E30B-C29172E96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000"/>
              <a:ext cx="0" cy="99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7B7C63D5-0F50-3F68-DD6B-3275B937E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2185"/>
              <a:ext cx="298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TRUE</a:t>
              </a:r>
              <a:endParaRPr lang="ko-KR" altLang="en-US" sz="1600" b="1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4AE6A05-0F70-B782-F081-09F7EDED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14"/>
              <a:ext cx="337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FALSE</a:t>
              </a:r>
              <a:endParaRPr lang="ko-KR" altLang="en-US" sz="1600" b="1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AA131F1B-99F8-5EE3-302C-C649B272F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252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(1)</a:t>
              </a:r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559AAA83-B201-F418-78DA-7EE5B540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040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(3)</a:t>
              </a: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A1593B4C-BF92-C363-C642-E46DD5166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813"/>
              <a:ext cx="0" cy="22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4A64F2D-32B8-875B-86CA-3C9ED240D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1071"/>
              <a:ext cx="0" cy="181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49EE1405-5673-1A2B-5702-70AFEC56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break &amp; continue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FD610824-5029-955E-ED4E-E4637D14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14800" cy="506916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2400" dirty="0"/>
              <a:t> in loop</a:t>
            </a:r>
          </a:p>
          <a:p>
            <a:pPr lvl="1"/>
            <a:r>
              <a:rPr lang="en-US" altLang="ko-KR" sz="2000" dirty="0"/>
              <a:t>go out of the loop block and execute next to the loop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Example</a:t>
            </a:r>
          </a:p>
          <a:p>
            <a:pPr lvl="1"/>
            <a:endParaRPr lang="en-US" altLang="ko-KR" sz="2000" dirty="0"/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(1) {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j;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	if (j == 0)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 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result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/j;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lvl="1">
              <a:buFont typeface="Wingdings" pitchFamily="2" charset="2"/>
              <a:buNone/>
            </a:pPr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220DEBA5-F18A-7E7D-32F7-3F8DC063A131}"/>
              </a:ext>
            </a:extLst>
          </p:cNvPr>
          <p:cNvSpPr txBox="1">
            <a:spLocks/>
          </p:cNvSpPr>
          <p:nvPr/>
        </p:nvSpPr>
        <p:spPr>
          <a:xfrm>
            <a:off x="4705672" y="1600200"/>
            <a:ext cx="44028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ko-KR" sz="2400" dirty="0"/>
              <a:t> in loop</a:t>
            </a:r>
          </a:p>
          <a:p>
            <a:pPr lvl="1"/>
            <a:r>
              <a:rPr lang="en-US" altLang="ko-KR" sz="2000" dirty="0"/>
              <a:t>go to condition-test and next iteration of the loop 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Example</a:t>
            </a:r>
          </a:p>
          <a:p>
            <a:pPr lvl="1">
              <a:buFont typeface="Wingdings" pitchFamily="2" charset="2"/>
              <a:buNone/>
            </a:pPr>
            <a:endParaRPr lang="en-US" altLang="ko-KR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 = 0;</a:t>
            </a:r>
            <a:endParaRPr lang="en-US" altLang="ko-KR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% 2 == 0)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  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sum +=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lvl="1">
              <a:buFont typeface="Wingdings" pitchFamily="2" charset="2"/>
              <a:buNone/>
            </a:pPr>
            <a:endParaRPr lang="ko-KR" altLang="en-US" sz="2000" dirty="0"/>
          </a:p>
          <a:p>
            <a:endParaRPr lang="ko-KR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-2738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8. Functions</a:t>
            </a:r>
            <a:endParaRPr lang="ko-KR" altLang="en-US" sz="4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816324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4E50C1-EF79-4F4A-480F-CF6D08BDAB4F}"/>
              </a:ext>
            </a:extLst>
          </p:cNvPr>
          <p:cNvSpPr txBox="1"/>
          <p:nvPr/>
        </p:nvSpPr>
        <p:spPr>
          <a:xfrm>
            <a:off x="539552" y="5229200"/>
            <a:ext cx="81632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local variables vs global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local variables (including parameter variables)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created when function is called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deleted when function returns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F50C3BE0-0E08-9462-BADF-EC80E565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why use functions?</a:t>
            </a:r>
            <a:endParaRPr lang="ko-KR" altLang="en-US" b="1" u="sng" dirty="0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D549E514-F0E1-8509-1894-E67DD738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68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many reasons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Don’t have to repeat the same block </a:t>
            </a:r>
            <a:r>
              <a:rPr lang="en-US" altLang="ko-KR" sz="2000" dirty="0"/>
              <a:t>of code many times. Make that code block a function and call it when needed.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Reuse</a:t>
            </a:r>
            <a:r>
              <a:rPr lang="en-US" altLang="ko-KR" sz="2000" dirty="0"/>
              <a:t> : useful functions can be reused in a number of programs.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top-down technique </a:t>
            </a:r>
            <a:r>
              <a:rPr lang="en-US" altLang="ko-KR" sz="2000" dirty="0"/>
              <a:t>: Make an outline and hierarchy of the steps needed to solve your problem and create a function for each step.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Easy to debug</a:t>
            </a:r>
            <a:r>
              <a:rPr lang="en-US" altLang="ko-KR" sz="2000" b="1" dirty="0"/>
              <a:t> </a:t>
            </a:r>
            <a:r>
              <a:rPr lang="en-US" altLang="ko-KR" sz="2000" dirty="0"/>
              <a:t>: Get one function working well then move on to the others.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Easy to modify and expand</a:t>
            </a:r>
            <a:r>
              <a:rPr lang="en-US" altLang="ko-KR" sz="2000" b="1" dirty="0"/>
              <a:t> </a:t>
            </a:r>
            <a:r>
              <a:rPr lang="en-US" altLang="ko-KR" sz="2000" dirty="0"/>
              <a:t>: Just add more functions to extend program capability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Readabilty</a:t>
            </a:r>
            <a:r>
              <a:rPr lang="en-US" altLang="ko-KR" sz="2000" dirty="0"/>
              <a:t> : Make program self-documenting and readable.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928E-644C-06BE-DE5F-6EE6982D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5075D17-6BE6-6E63-0BA5-DE055F86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9. array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C73A90D-1755-016D-6D92-88BB41D5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en-US" altLang="ko-KR" sz="2000" dirty="0"/>
              <a:t>a fixed-sized collection of elements of the same type</a:t>
            </a:r>
          </a:p>
          <a:p>
            <a:r>
              <a:rPr lang="en-US" altLang="ko-KR" sz="2000" dirty="0"/>
              <a:t>stored consecutively in memory</a:t>
            </a:r>
          </a:p>
          <a:p>
            <a:r>
              <a:rPr lang="en-US" altLang="ko-KR" sz="2000" dirty="0"/>
              <a:t>fast random access (ex) x[15]=3;</a:t>
            </a:r>
          </a:p>
          <a:p>
            <a:r>
              <a:rPr lang="en-US" altLang="ko-KR" sz="2000" dirty="0"/>
              <a:t>string as an array of characters     (ex) </a:t>
            </a:r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src_string_cstyle.c</a:t>
            </a:r>
            <a:endParaRPr lang="ko-KR" altLang="en-US" sz="20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5AB576D-32F4-35D4-3123-598B68323FF9}"/>
              </a:ext>
            </a:extLst>
          </p:cNvPr>
          <p:cNvSpPr txBox="1">
            <a:spLocks/>
          </p:cNvSpPr>
          <p:nvPr/>
        </p:nvSpPr>
        <p:spPr>
          <a:xfrm>
            <a:off x="571500" y="2862464"/>
            <a:ext cx="3757613" cy="37208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int x0, x1, x2, x3, x4;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"Get 5 integers :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x1;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x2;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x3;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x4;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"Reverse Order :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x4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x3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x2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x1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x0 &lt;&lt; ”\n";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  <a:endParaRPr lang="ko-KR" alt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5DF980-4833-C973-6718-EAE9F5828699}"/>
              </a:ext>
            </a:extLst>
          </p:cNvPr>
          <p:cNvSpPr/>
          <p:nvPr/>
        </p:nvSpPr>
        <p:spPr>
          <a:xfrm>
            <a:off x="4857750" y="2852936"/>
            <a:ext cx="3857625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int main()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x[5]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"Get 5 integers : ";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5; ++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&gt;&gt;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</a:t>
            </a:r>
            <a:r>
              <a:rPr lang="en-US" altLang="ko-KR" sz="1200" b="1" dirty="0" err="1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]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"Reverse order : ";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4;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&gt;= 0; --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</a:t>
            </a:r>
            <a:r>
              <a:rPr lang="en-US" altLang="ko-KR" sz="1200" b="1" dirty="0" err="1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] 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" " 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"\n";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3440EC0-ED46-8DBE-8AE0-021A9E4526A1}"/>
              </a:ext>
            </a:extLst>
          </p:cNvPr>
          <p:cNvCxnSpPr/>
          <p:nvPr/>
        </p:nvCxnSpPr>
        <p:spPr>
          <a:xfrm>
            <a:off x="4429125" y="3571428"/>
            <a:ext cx="357188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>
            <a:extLst>
              <a:ext uri="{FF2B5EF4-FFF2-40B4-BE49-F238E27FC236}">
                <a16:creationId xmlns:a16="http://schemas.microsoft.com/office/drawing/2014/main" id="{C227C7CA-41FA-CBF0-0B23-463138F53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296" y="5972001"/>
            <a:ext cx="30591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24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1C57E-428E-F40B-4256-8B1E6DD5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4DEBA3-93B4-4D2E-5A5C-9D987349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10. pointer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79B4401-7AE8-61E8-28CF-7E0568F0B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88632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000" dirty="0"/>
              <a:t>pointer type variable</a:t>
            </a:r>
          </a:p>
          <a:p>
            <a:pPr lvl="1"/>
            <a:r>
              <a:rPr lang="en-US" altLang="ko-KR" sz="1600" dirty="0"/>
              <a:t>“pointer” usually means memory address</a:t>
            </a:r>
          </a:p>
          <a:p>
            <a:pPr lvl="1"/>
            <a:r>
              <a:rPr lang="en-US" altLang="ko-KR" sz="1600" dirty="0"/>
              <a:t>a variable that stores memory address</a:t>
            </a:r>
          </a:p>
          <a:p>
            <a:pPr lvl="1"/>
            <a:r>
              <a:rPr lang="en-US" altLang="ko-KR" sz="1600" dirty="0"/>
              <a:t>size is always: 8 bytes (in 64-bit systems), 4 bytes (in 32-bit systems)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Remember</a:t>
            </a:r>
          </a:p>
          <a:p>
            <a:pPr lvl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multiplication operator (binary operator), ex) z=x*y;</a:t>
            </a:r>
          </a:p>
          <a:p>
            <a:pPr marL="1200150" lvl="2" indent="-285750">
              <a:buFont typeface="Arial" pitchFamily="34" charset="0"/>
              <a:buAutoNum type="romanLcParenBoth"/>
            </a:pPr>
            <a:r>
              <a:rPr lang="en-US" altLang="ko-KR" sz="1400" dirty="0"/>
              <a:t>the-value-of operator (unary operator), ex) *x=5;</a:t>
            </a:r>
            <a:endParaRPr lang="en-US" altLang="ko-KR" sz="1800" dirty="0"/>
          </a:p>
          <a:p>
            <a:pPr marL="1200150" lvl="2" indent="-285750">
              <a:buAutoNum type="romanLcParenBoth"/>
            </a:pPr>
            <a:r>
              <a:rPr lang="en-US" altLang="ko-KR" sz="1400" dirty="0"/>
              <a:t>pointer type declaration, ex) int *x;</a:t>
            </a:r>
          </a:p>
          <a:p>
            <a:pPr lvl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bitwise-AND operator (binary operator), ex) z=</a:t>
            </a:r>
            <a:r>
              <a:rPr lang="en-US" altLang="ko-KR" sz="1400" dirty="0" err="1"/>
              <a:t>x&amp;y</a:t>
            </a:r>
            <a:r>
              <a:rPr lang="en-US" altLang="ko-KR" sz="1400" dirty="0"/>
              <a:t>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address-of operator (unary operator), ex) x=&amp;y;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reference type declaration, ex) int&amp; y=x;</a:t>
            </a:r>
          </a:p>
          <a:p>
            <a:pPr marL="57150" indent="0">
              <a:buNone/>
            </a:pPr>
            <a:endParaRPr lang="en-US" altLang="ko-KR" sz="2000" dirty="0"/>
          </a:p>
          <a:p>
            <a:pPr marL="57150" indent="0">
              <a:buNone/>
            </a:pPr>
            <a:endParaRPr lang="en-US" altLang="ko-KR" sz="2000" dirty="0"/>
          </a:p>
          <a:p>
            <a:pPr marL="400050">
              <a:buAutoNum type="romanLcParenBoth"/>
            </a:pPr>
            <a:endParaRPr lang="en-US" altLang="ko-KR" sz="2000" dirty="0"/>
          </a:p>
          <a:p>
            <a:pPr lvl="2"/>
            <a:endParaRPr lang="en-US" altLang="ko-KR" sz="1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4C7A746-909B-27B1-3B4E-D53091482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" y="2204864"/>
            <a:ext cx="8186738" cy="22322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int *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x;   //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is pointer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x is an integer type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300" b="1" kern="0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x = 5;          // assignment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&amp;x;      //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points to x that means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the value of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is the address of x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300" b="1" kern="0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10;     // the value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points to is changed to 10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that means x becomes 10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x;      // result is 10    </a:t>
            </a:r>
          </a:p>
        </p:txBody>
      </p:sp>
    </p:spTree>
    <p:extLst>
      <p:ext uri="{BB962C8B-B14F-4D97-AF65-F5344CB8AC3E}">
        <p14:creationId xmlns:p14="http://schemas.microsoft.com/office/powerpoint/2010/main" val="1419419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323528" y="1361802"/>
            <a:ext cx="8939336" cy="5357192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array/pointer : almost the same as C</a:t>
            </a:r>
          </a:p>
          <a:p>
            <a:r>
              <a:rPr lang="en-US" altLang="ko-KR" dirty="0"/>
              <a:t>dynamic memory allocation</a:t>
            </a:r>
          </a:p>
          <a:p>
            <a:pPr lvl="1"/>
            <a:r>
              <a:rPr lang="en-US" altLang="ko-KR" sz="2400" dirty="0"/>
              <a:t>“dynamic” means “… occurs at run-time (execution-time)”</a:t>
            </a:r>
          </a:p>
          <a:p>
            <a:pPr lvl="1"/>
            <a:r>
              <a:rPr lang="en-US" altLang="ko-KR" sz="2400" dirty="0"/>
              <a:t>malloc (in C)  </a:t>
            </a:r>
            <a:r>
              <a:rPr lang="en-US" altLang="ko-KR" sz="2400" dirty="0">
                <a:sym typeface="Wingdings" pitchFamily="2" charset="2"/>
              </a:rPr>
              <a:t></a:t>
            </a:r>
            <a:r>
              <a:rPr lang="en-US" altLang="ko-KR" sz="2400" dirty="0"/>
              <a:t> new (in C++)</a:t>
            </a:r>
          </a:p>
          <a:p>
            <a:pPr lvl="1"/>
            <a:r>
              <a:rPr lang="en-US" altLang="ko-KR" sz="2400" dirty="0"/>
              <a:t>free (in C)  </a:t>
            </a:r>
            <a:r>
              <a:rPr lang="en-US" altLang="ko-KR" sz="2400" dirty="0">
                <a:sym typeface="Wingdings" pitchFamily="2" charset="2"/>
              </a:rPr>
              <a:t></a:t>
            </a:r>
            <a:r>
              <a:rPr lang="en-US" altLang="ko-KR" sz="2400" dirty="0"/>
              <a:t> delete (in C++)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static allocation vs dynamic allocation</a:t>
            </a:r>
          </a:p>
          <a:p>
            <a:pPr lvl="1"/>
            <a:r>
              <a:rPr lang="en-US" altLang="ko-KR" dirty="0"/>
              <a:t>see the class webpage ,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src_array.cpp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700770"/>
            <a:ext cx="3975768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lvl="1"/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ex) in C</a:t>
            </a:r>
          </a:p>
          <a:p>
            <a:pPr lvl="1">
              <a:buNone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*x;</a:t>
            </a: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x=(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*)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(10*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free(x);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5368" y="3700770"/>
            <a:ext cx="3869080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ex) in C++</a:t>
            </a:r>
          </a:p>
          <a:p>
            <a:pPr lvl="1">
              <a:buNone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*x;</a:t>
            </a: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x=new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[10];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delete[] x;</a:t>
            </a:r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7304942D-66B9-4CD5-6259-CDC5E269378B}"/>
              </a:ext>
            </a:extLst>
          </p:cNvPr>
          <p:cNvSpPr txBox="1">
            <a:spLocks/>
          </p:cNvSpPr>
          <p:nvPr/>
        </p:nvSpPr>
        <p:spPr>
          <a:xfrm>
            <a:off x="609600" y="18864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u="sng" dirty="0"/>
              <a:t>11. Dynamic memory allocation</a:t>
            </a:r>
            <a:endParaRPr lang="ko-KR" altLang="en-US" b="1" u="sng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12. C++ </a:t>
            </a:r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452596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class: data structure type that can contain member data and member functions. </a:t>
            </a:r>
            <a:endParaRPr lang="ko-KR" alt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16832"/>
            <a:ext cx="660082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7B413F7-799B-2A95-E4DB-6FC1E3430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class constructor/destructor </a:t>
            </a:r>
          </a:p>
          <a:p>
            <a:pPr lvl="1"/>
            <a:endParaRPr lang="en-US" altLang="ko-KR" sz="2400" dirty="0"/>
          </a:p>
          <a:p>
            <a:pPr lvl="1"/>
            <a:r>
              <a:rPr lang="en-US" altLang="ko-KR" sz="2400" dirty="0"/>
              <a:t>member function that is automatically called when the object is created/deleted.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050876"/>
            <a:ext cx="666750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-9939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pointers to class object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6A8D0-9991-414B-A1DC-95D4F3E3DCF3}"/>
              </a:ext>
            </a:extLst>
          </p:cNvPr>
          <p:cNvSpPr txBox="1"/>
          <p:nvPr/>
        </p:nvSpPr>
        <p:spPr>
          <a:xfrm>
            <a:off x="827584" y="519345"/>
            <a:ext cx="8229600" cy="6294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{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private: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width, height;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public: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Rectangle() { width=1; height=1; 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Rectangle(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y) : width(x), height(y) {}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area() { return width*height; 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b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(3,4);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 *foo, *bar, *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foo = &amp;obj;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bar = new Rectangle(5,6); 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Rectangle[2];   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obj's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obj.area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"*foo's area: " &lt;&lt; foo-&gt;area()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"*bar's area: " &lt;&lt; bar-&gt;area()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[0]'s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[0].area()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[1]'s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[1].area()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delete bar;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delete[]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0;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ko-KR" alt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13. C++ File Processing</a:t>
            </a:r>
            <a:endParaRPr lang="ko-KR" altLang="en-US" b="1" u="sng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116632"/>
            <a:ext cx="8507288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file stream class</a:t>
            </a:r>
          </a:p>
          <a:p>
            <a:pPr lvl="1"/>
            <a:r>
              <a:rPr lang="en-US" altLang="ko-KR" sz="2400" dirty="0" err="1"/>
              <a:t>ofstream</a:t>
            </a:r>
            <a:r>
              <a:rPr lang="en-US" altLang="ko-KR" sz="2400" dirty="0"/>
              <a:t>: stream class to write on files</a:t>
            </a:r>
          </a:p>
          <a:p>
            <a:pPr lvl="1"/>
            <a:r>
              <a:rPr lang="en-US" altLang="ko-KR" sz="2400" dirty="0" err="1"/>
              <a:t>ifstream</a:t>
            </a:r>
            <a:r>
              <a:rPr lang="en-US" altLang="ko-KR" sz="2400" dirty="0"/>
              <a:t>: stream class to read from files</a:t>
            </a:r>
          </a:p>
          <a:p>
            <a:pPr lvl="1"/>
            <a:r>
              <a:rPr lang="en-US" altLang="ko-KR" sz="2400" dirty="0" err="1"/>
              <a:t>fstream</a:t>
            </a:r>
            <a:r>
              <a:rPr lang="en-US" altLang="ko-KR" sz="2400" dirty="0"/>
              <a:t>: stream class to read and write from/to files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708920"/>
            <a:ext cx="7979337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File Processing</a:t>
            </a:r>
            <a:endParaRPr lang="ko-KR" alt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Open</a:t>
            </a:r>
          </a:p>
          <a:p>
            <a:pPr lvl="1"/>
            <a:r>
              <a:rPr lang="en-US" dirty="0"/>
              <a:t>Text? Or Binary?</a:t>
            </a:r>
          </a:p>
          <a:p>
            <a:pPr lvl="1"/>
            <a:r>
              <a:rPr lang="en-US" dirty="0"/>
              <a:t>In case of writing, append? Or truncate?</a:t>
            </a:r>
          </a:p>
          <a:p>
            <a:pPr lvl="1"/>
            <a:r>
              <a:rPr lang="en-US" dirty="0"/>
              <a:t>File Position (automatic? Or User-Control?)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4365104"/>
            <a:ext cx="190468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File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1241" y="4149080"/>
            <a:ext cx="2929648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File Processing</a:t>
            </a:r>
          </a:p>
          <a:p>
            <a:pPr algn="ctr"/>
            <a:r>
              <a:rPr lang="en-US" sz="3200" dirty="0"/>
              <a:t>(Read/Write)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2240" y="4365103"/>
            <a:ext cx="189346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File close</a:t>
            </a:r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 flipV="1">
            <a:off x="2372233" y="4657490"/>
            <a:ext cx="79900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1"/>
          </p:cNvCxnSpPr>
          <p:nvPr/>
        </p:nvCxnSpPr>
        <p:spPr>
          <a:xfrm>
            <a:off x="6100889" y="4657490"/>
            <a:ext cx="6313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File open mode</a:t>
            </a:r>
            <a:endParaRPr lang="ko-KR" altLang="en-US" b="1" u="sng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t="3281"/>
          <a:stretch>
            <a:fillRect/>
          </a:stretch>
        </p:blipFill>
        <p:spPr bwMode="auto">
          <a:xfrm>
            <a:off x="0" y="1052736"/>
            <a:ext cx="9144000" cy="534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5081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File Open/Close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mode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if file open was OK</a:t>
            </a:r>
          </a:p>
          <a:p>
            <a:endParaRPr lang="en-US" dirty="0"/>
          </a:p>
          <a:p>
            <a:r>
              <a:rPr lang="en-US" dirty="0"/>
              <a:t>Closing a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76872"/>
            <a:ext cx="3314700" cy="1168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33" y="4595217"/>
            <a:ext cx="57277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33" y="5661248"/>
            <a:ext cx="165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2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Text </a:t>
            </a:r>
            <a:r>
              <a:rPr lang="en-US" b="1" u="sng"/>
              <a:t>File (Write)- </a:t>
            </a:r>
            <a:r>
              <a:rPr lang="en-US" b="1" u="sng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30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87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Text </a:t>
            </a:r>
            <a:r>
              <a:rPr lang="en-US" b="1" u="sng"/>
              <a:t>File (Read) </a:t>
            </a:r>
            <a:r>
              <a:rPr lang="en-US" b="1" u="sng" dirty="0"/>
              <a:t>-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729"/>
            <a:ext cx="9144000" cy="39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40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Status Check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514"/>
            <a:ext cx="9144000" cy="337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93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Get and Put Stream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tellg</a:t>
            </a:r>
            <a:r>
              <a:rPr lang="en-US" dirty="0"/>
              <a:t>()/</a:t>
            </a:r>
            <a:r>
              <a:rPr lang="en-US" dirty="0" err="1"/>
              <a:t>tellp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current get/put position</a:t>
            </a:r>
          </a:p>
          <a:p>
            <a:pPr lvl="1"/>
            <a:endParaRPr lang="en-US" dirty="0"/>
          </a:p>
          <a:p>
            <a:r>
              <a:rPr lang="en-US" dirty="0" err="1"/>
              <a:t>seekg</a:t>
            </a:r>
            <a:r>
              <a:rPr lang="en-US" dirty="0"/>
              <a:t>()/</a:t>
            </a:r>
            <a:r>
              <a:rPr lang="en-US" dirty="0" err="1"/>
              <a:t>seekp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Change the location of the get/put position</a:t>
            </a:r>
          </a:p>
          <a:p>
            <a:pPr marL="457200" lvl="1" indent="0">
              <a:buNone/>
            </a:pPr>
            <a:endParaRPr lang="en-US" sz="18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seekg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(position);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seekp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(position);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seekg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(offset, direction);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seekp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(offset, direction);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464" y="5085184"/>
            <a:ext cx="4824536" cy="82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07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File Position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239"/>
            <a:ext cx="9144000" cy="27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4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Binary File Processing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52" y="1358443"/>
            <a:ext cx="9144000" cy="551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13813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보충 자료 (강의 페이지)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C++ Namespace (cplusplus.com)</a:t>
            </a:r>
          </a:p>
          <a:p>
            <a:pPr lvl="1"/>
            <a:r>
              <a:rPr sz="1400"/>
              <a:t>https://cplusplus.com/doc/oldtutorial/namespaces/</a:t>
            </a:r>
          </a:p>
          <a:p>
            <a:pPr/>
            <a:r>
              <a:rPr sz="1800"/>
              <a:t>static vs. dynamic memory allocation (토론 자료)</a:t>
            </a:r>
          </a:p>
          <a:p>
            <a:pPr/>
            <a:r>
              <a:rPr sz="1800"/>
              <a:t>예제 소스: src_print, src_string, src_getline, src_getline_fileio, src_string_cstyle, src_array</a:t>
            </a:r>
          </a:p>
          <a:p>
            <a:pPr lvl="1"/>
            <a:r>
              <a:rPr sz="1400"/>
              <a:t>src_getline_fileio 입력 파일: example.txt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"/>
            <a:ext cx="8229600" cy="548640"/>
          </a:xfrm>
        </p:spPr>
        <p:txBody>
          <a:bodyPr/>
          <a:lstStyle/>
          <a:p>
            <a:r>
              <a:rPr sz="2000" b="1"/>
              <a:t>static vs. dynamic memory allocation</a:t>
            </a:r>
          </a:p>
        </p:txBody>
      </p:sp>
      <p:pic>
        <p:nvPicPr>
          <p:cNvPr id="3" name="Picture 2" descr="dynamic_allocation_discussio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36" y="822960"/>
            <a:ext cx="469272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src_print.cpp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&lt;iostream&gt;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#include &lt;cstdio&gt;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>#include &lt;print&gt;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>#include &lt;format&gt;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>using namespace std;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int main()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>    double pi=3.141592;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int age = 21;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printf("pi=%7.2f , age=%d\n",pi,age);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>    cout &lt;&lt; format("pi={:7.2f} , age={}\n",pi,age);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>    print("pi={:7.2f} , age={}\n",pi,age);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src_string.cpp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&lt;iostream&gt;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#include &lt;string&gt;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>using namespace std;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>int main()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>    // 1. Creating strings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>    string s1 = "Hello";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    string s2("World");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    string s3;                 // empty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// 2. Concatenation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s3 = s1 + " " + s2;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>    cout &lt;&lt; s3 &lt;&lt; endl;        // Hello World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>    // 3. Length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>    cout &lt;&lt; "Length: " &lt;&lt; s3.length()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    cout &lt;&lt; "Size: " &lt;&lt; s3.size() &lt;&lt; endl;  // same as length()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19  </a:t>
            </a:r>
            <a:r>
              <a:rPr sz="1250">
                <a:latin typeface="Courier New"/>
              </a:rPr>
              <a:t>    // 4. Accessing individual characters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20  </a:t>
            </a:r>
            <a:r>
              <a:rPr sz="1250">
                <a:latin typeface="Courier New"/>
              </a:rPr>
              <a:t>    cout &lt;&lt; s3[0] &lt;&lt; endl;     // H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21  </a:t>
            </a:r>
            <a:r>
              <a:rPr sz="1250">
                <a:latin typeface="Courier New"/>
              </a:rPr>
              <a:t>    cout &lt;&lt; s3.at(1) &lt;&lt; endl;  // e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22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23  </a:t>
            </a:r>
            <a:r>
              <a:rPr sz="1250">
                <a:latin typeface="Courier New"/>
              </a:rPr>
              <a:t>    // 5. Modifying a character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24  </a:t>
            </a:r>
            <a:r>
              <a:rPr sz="1250">
                <a:latin typeface="Courier New"/>
              </a:rPr>
              <a:t>    s3[0] = 'h';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25  </a:t>
            </a:r>
            <a:r>
              <a:rPr sz="1250">
                <a:latin typeface="Courier New"/>
              </a:rPr>
              <a:t>    cout &lt;&lt; s3 &lt;&lt; endl;        // hello World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26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27  </a:t>
            </a:r>
            <a:r>
              <a:rPr sz="1250">
                <a:latin typeface="Courier New"/>
              </a:rPr>
              <a:t>    // 6. Adding text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src_string.cpp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28  </a:t>
            </a:r>
            <a:r>
              <a:rPr sz="1250">
                <a:latin typeface="Courier New"/>
              </a:rPr>
              <a:t>    s3 += "!";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29  </a:t>
            </a:r>
            <a:r>
              <a:rPr sz="1250">
                <a:latin typeface="Courier New"/>
              </a:rPr>
              <a:t>    s3.append(" C++");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30  </a:t>
            </a:r>
            <a:r>
              <a:rPr sz="1250">
                <a:latin typeface="Courier New"/>
              </a:rPr>
              <a:t>    cout &lt;&lt; s3 &lt;&lt; endl;        // hello World! C++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31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32  </a:t>
            </a:r>
            <a:r>
              <a:rPr sz="1250">
                <a:latin typeface="Courier New"/>
              </a:rPr>
              <a:t>    // 7. Finding a substring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33  </a:t>
            </a:r>
            <a:r>
              <a:rPr sz="1250">
                <a:latin typeface="Courier New"/>
              </a:rPr>
              <a:t>    size_t pos = s3.find("World");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35  </a:t>
            </a:r>
            <a:r>
              <a:rPr sz="1250">
                <a:latin typeface="Courier New"/>
              </a:rPr>
              <a:t>    if (pos != string::npos)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36  </a:t>
            </a:r>
            <a:r>
              <a:rPr sz="1250">
                <a:latin typeface="Courier New"/>
              </a:rPr>
              <a:t>        cout &lt;&lt; "Found at index: " &lt;&lt; pos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38  </a:t>
            </a:r>
            <a:r>
              <a:rPr sz="1250">
                <a:latin typeface="Courier New"/>
              </a:rPr>
              <a:t>    // 8. Extracting a substring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39  </a:t>
            </a:r>
            <a:r>
              <a:rPr sz="1250">
                <a:latin typeface="Courier New"/>
              </a:rPr>
              <a:t>    string sub = s3.substr(6, 5);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40  </a:t>
            </a:r>
            <a:r>
              <a:rPr sz="1250">
                <a:latin typeface="Courier New"/>
              </a:rPr>
              <a:t>    cout &lt;&lt; sub &lt;&lt; endl;       // World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41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42  </a:t>
            </a:r>
            <a:r>
              <a:rPr sz="1250">
                <a:latin typeface="Courier New"/>
              </a:rPr>
              <a:t>    // 9. Replacing part of a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43  </a:t>
            </a:r>
            <a:r>
              <a:rPr sz="1250">
                <a:latin typeface="Courier New"/>
              </a:rPr>
              <a:t>    s3.replace(6, 5, "C++");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44  </a:t>
            </a:r>
            <a:r>
              <a:rPr sz="1250">
                <a:latin typeface="Courier New"/>
              </a:rPr>
              <a:t>    cout &lt;&lt; s3 &lt;&lt; endl;        // hello C++! C++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45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46  </a:t>
            </a:r>
            <a:r>
              <a:rPr sz="1250">
                <a:latin typeface="Courier New"/>
              </a:rPr>
              <a:t>    // 10. Inserting text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47  </a:t>
            </a:r>
            <a:r>
              <a:rPr sz="1250">
                <a:latin typeface="Courier New"/>
              </a:rPr>
              <a:t>    s3.insert(5, " beautiful");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48  </a:t>
            </a:r>
            <a:r>
              <a:rPr sz="1250">
                <a:latin typeface="Courier New"/>
              </a:rPr>
              <a:t>    cout &lt;&lt; s3 &lt;&lt; endl;        // hello beautiful C++! C++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49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50  </a:t>
            </a:r>
            <a:r>
              <a:rPr sz="1250">
                <a:latin typeface="Courier New"/>
              </a:rPr>
              <a:t>    // 11. Erasing part of a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51  </a:t>
            </a:r>
            <a:r>
              <a:rPr sz="1250">
                <a:latin typeface="Courier New"/>
              </a:rPr>
              <a:t>    s3.erase(5, 10);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52  </a:t>
            </a:r>
            <a:r>
              <a:rPr sz="1250">
                <a:latin typeface="Courier New"/>
              </a:rPr>
              <a:t>    cout &lt;&lt; s3 &lt;&lt; endl;        // hello C++! C++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54  </a:t>
            </a:r>
            <a:r>
              <a:rPr sz="1250">
                <a:latin typeface="Courier New"/>
              </a:rPr>
              <a:t>    // 12. String comparison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src_string.cpp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55  </a:t>
            </a:r>
            <a:r>
              <a:rPr sz="1250">
                <a:latin typeface="Courier New"/>
              </a:rPr>
              <a:t>    string a = "apple";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56  </a:t>
            </a:r>
            <a:r>
              <a:rPr sz="1250">
                <a:latin typeface="Courier New"/>
              </a:rPr>
              <a:t>    string b = "banana";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58  </a:t>
            </a:r>
            <a:r>
              <a:rPr sz="1250">
                <a:latin typeface="Courier New"/>
              </a:rPr>
              <a:t>    if (a &lt; b)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59  </a:t>
            </a:r>
            <a:r>
              <a:rPr sz="1250">
                <a:latin typeface="Courier New"/>
              </a:rPr>
              <a:t>        cout &lt;&lt; "apple comes before banana"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60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61  </a:t>
            </a:r>
            <a:r>
              <a:rPr sz="1250">
                <a:latin typeface="Courier New"/>
              </a:rPr>
              <a:t>    if (a == "apple")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62  </a:t>
            </a:r>
            <a:r>
              <a:rPr sz="1250">
                <a:latin typeface="Courier New"/>
              </a:rPr>
              <a:t>        cout &lt;&lt; "a is apple"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64  </a:t>
            </a:r>
            <a:r>
              <a:rPr sz="1250">
                <a:latin typeface="Courier New"/>
              </a:rPr>
              <a:t>    // 13. Checking whether a string is empty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65  </a:t>
            </a:r>
            <a:r>
              <a:rPr sz="1250">
                <a:latin typeface="Courier New"/>
              </a:rPr>
              <a:t>    if (s3.empty())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66  </a:t>
            </a:r>
            <a:r>
              <a:rPr sz="1250">
                <a:latin typeface="Courier New"/>
              </a:rPr>
              <a:t>        cout &lt;&lt; "String is empty"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68  </a:t>
            </a:r>
            <a:r>
              <a:rPr sz="1250">
                <a:latin typeface="Courier New"/>
              </a:rPr>
              <a:t>    // 14. Iterating through characters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69  </a:t>
            </a:r>
            <a:r>
              <a:rPr sz="1250">
                <a:latin typeface="Courier New"/>
              </a:rPr>
              <a:t>    for (char c : s3)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70  </a:t>
            </a:r>
            <a:r>
              <a:rPr sz="1250">
                <a:latin typeface="Courier New"/>
              </a:rPr>
              <a:t>        cout &lt;&lt; c &lt;&lt; ' ';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71  </a:t>
            </a:r>
            <a:r>
              <a:rPr sz="1250">
                <a:latin typeface="Courier New"/>
              </a:rPr>
              <a:t>    cout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72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73  </a:t>
            </a:r>
            <a:r>
              <a:rPr sz="1250">
                <a:latin typeface="Courier New"/>
              </a:rPr>
              <a:t>    // 15. C-style string when needed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74  </a:t>
            </a:r>
            <a:r>
              <a:rPr sz="1250">
                <a:latin typeface="Courier New"/>
              </a:rPr>
              <a:t>    const char* p = s3.c_str();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75  </a:t>
            </a:r>
            <a:r>
              <a:rPr sz="1250">
                <a:latin typeface="Courier New"/>
              </a:rPr>
              <a:t>    cout &lt;&lt; p &lt;&lt; endl;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76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77  </a:t>
            </a:r>
            <a:r>
              <a:rPr sz="1250">
                <a:latin typeface="Courier New"/>
              </a:rPr>
              <a:t>    // 16. Numeric Conversions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78  </a:t>
            </a:r>
            <a:r>
              <a:rPr sz="1250">
                <a:latin typeface="Courier New"/>
              </a:rPr>
              <a:t>    string doubleStr = "123.45";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79  </a:t>
            </a:r>
            <a:r>
              <a:rPr sz="1250">
                <a:latin typeface="Courier New"/>
              </a:rPr>
              <a:t>    string intStr = "67";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80  </a:t>
            </a:r>
            <a:r>
              <a:rPr sz="1250">
                <a:latin typeface="Courier New"/>
              </a:rPr>
              <a:t>    double dval = stod(doubleStr);   // String to double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81  </a:t>
            </a:r>
            <a:r>
              <a:rPr sz="1250">
                <a:latin typeface="Courier New"/>
              </a:rPr>
              <a:t>    int ival = stoi(intStr);   // String to int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src_string.cpp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82  </a:t>
            </a:r>
            <a:r>
              <a:rPr sz="1250">
                <a:latin typeface="Courier New"/>
              </a:rPr>
              <a:t>    string formatted1 = to_string(dval * 2); // Number to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83  </a:t>
            </a:r>
            <a:r>
              <a:rPr sz="1250">
                <a:latin typeface="Courier New"/>
              </a:rPr>
              <a:t>    string formatted2 = to_string(ival * 2); // Number to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84  </a:t>
            </a:r>
            <a:r>
              <a:rPr sz="1250">
                <a:latin typeface="Courier New"/>
              </a:rPr>
              <a:t>    cout &lt;&lt; "conversion result: " &lt;&lt; formatted1 &lt;&lt; " , " &lt;&lt; formatted2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85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86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87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src_getline.cpp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&lt;iostream&gt;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#include &lt;string&gt;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>#include &lt;sstream&gt;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>#include &lt;fstream&gt;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>using namespace std;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>int main()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    cout &lt;&lt; "[student_id] [name] [department] [age] [GPA(score)]\n";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>   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string student_id;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string name;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>    string dept;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>    int age;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>    double GPA;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>    double GPA_total=0.0;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    string linestr;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18  </a:t>
            </a:r>
            <a:r>
              <a:rPr sz="1250">
                <a:latin typeface="Courier New"/>
              </a:rPr>
              <a:t>    int count=0;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19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20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21  </a:t>
            </a:r>
            <a:r>
              <a:rPr sz="1250">
                <a:latin typeface="Courier New"/>
              </a:rPr>
              <a:t>    while (getline(cin,linestr))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22  </a:t>
            </a:r>
            <a:r>
              <a:rPr sz="1250">
                <a:latin typeface="Courier New"/>
              </a:rPr>
              <a:t>//  ifstream myfile("example.txt");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23  </a:t>
            </a:r>
            <a:r>
              <a:rPr sz="1250">
                <a:latin typeface="Courier New"/>
              </a:rPr>
              <a:t>//  while (getline(myfile,linestr))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24  </a:t>
            </a:r>
            <a:r>
              <a:rPr sz="1250">
                <a:latin typeface="Courier New"/>
              </a:rPr>
              <a:t>        if (linestr.empty()) break;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25  </a:t>
            </a:r>
            <a:r>
              <a:rPr sz="1250">
                <a:latin typeface="Courier New"/>
              </a:rPr>
              <a:t>        istringstream iss(linestr); // istringstream treats a string as an input stream.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26  </a:t>
            </a:r>
            <a:r>
              <a:rPr sz="1250">
                <a:latin typeface="Courier New"/>
              </a:rPr>
              <a:t>        iss &gt;&gt; student_id &gt;&gt; name &gt;&gt; dept &gt;&gt; age &gt;&gt; GPA 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27  </a:t>
            </a:r>
            <a:r>
              <a:rPr sz="1250">
                <a:latin typeface="Courier New"/>
              </a:rPr>
              <a:t>        cout &lt;&lt; "student_id: " &lt;&lt; student_id &lt;&lt; "\n";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src_getline.cpp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28  </a:t>
            </a:r>
            <a:r>
              <a:rPr sz="1250">
                <a:latin typeface="Courier New"/>
              </a:rPr>
              <a:t>        cout &lt;&lt; "name: " &lt;&lt; name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29  </a:t>
            </a:r>
            <a:r>
              <a:rPr sz="1250">
                <a:latin typeface="Courier New"/>
              </a:rPr>
              <a:t>        cout &lt;&lt; "department: " &lt;&lt; dept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30  </a:t>
            </a:r>
            <a:r>
              <a:rPr sz="1250">
                <a:latin typeface="Courier New"/>
              </a:rPr>
              <a:t>        cout &lt;&lt; "age: " &lt;&lt; age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31  </a:t>
            </a:r>
            <a:r>
              <a:rPr sz="1250">
                <a:latin typeface="Courier New"/>
              </a:rPr>
              <a:t>        cout &lt;&lt; "GPA(score): " &lt;&lt; GPA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32  </a:t>
            </a:r>
            <a:r>
              <a:rPr sz="1250">
                <a:latin typeface="Courier New"/>
              </a:rPr>
              <a:t>        GPA_total += GPA;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33  </a:t>
            </a:r>
            <a:r>
              <a:rPr sz="1250">
                <a:latin typeface="Courier New"/>
              </a:rPr>
              <a:t>        count++;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34  </a:t>
            </a:r>
            <a:r>
              <a:rPr sz="1250">
                <a:latin typeface="Courier New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35  </a:t>
            </a:r>
            <a:r>
              <a:rPr sz="1250">
                <a:latin typeface="Courier New"/>
              </a:rPr>
              <a:t>//  myfile.close();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36  </a:t>
            </a:r>
            <a:r>
              <a:rPr sz="1250">
                <a:latin typeface="Courier New"/>
              </a:rPr>
              <a:t>    cout &lt;&lt; "GPA average: " &lt;&lt; GPA_total/count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38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39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src_getline_fileio.cpp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&lt;iostream&gt;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#include &lt;string&gt;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>#include &lt;sstream&gt;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>#include &lt;fstream&gt;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>using namespace std;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>int main()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    cout &lt;&lt; "[student_id] [name] [department] [age] [GPA(score)]\n";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>   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string student_id;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string name;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>    string dept;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>    int age;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>    double GPA;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>    double GPA_total=0.0;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    string linestr;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18  </a:t>
            </a:r>
            <a:r>
              <a:rPr sz="1250">
                <a:latin typeface="Courier New"/>
              </a:rPr>
              <a:t>    string temp_str;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19  </a:t>
            </a:r>
            <a:r>
              <a:rPr sz="1250">
                <a:latin typeface="Courier New"/>
              </a:rPr>
              <a:t>    int count=0;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20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21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22  </a:t>
            </a:r>
            <a:r>
              <a:rPr sz="1250">
                <a:latin typeface="Courier New"/>
              </a:rPr>
              <a:t>//    while (getline(cin,linestr))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23  </a:t>
            </a:r>
            <a:r>
              <a:rPr sz="1250">
                <a:latin typeface="Courier New"/>
              </a:rPr>
              <a:t>  ifstream myfile("example.txt");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24  </a:t>
            </a:r>
            <a:r>
              <a:rPr sz="1250">
                <a:latin typeface="Courier New"/>
              </a:rPr>
              <a:t>  ofstream out("example_out.txt");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25  </a:t>
            </a:r>
            <a:r>
              <a:rPr sz="1250">
                <a:latin typeface="Courier New"/>
              </a:rPr>
              <a:t>  while (getline(myfile,linestr))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26  </a:t>
            </a:r>
            <a:r>
              <a:rPr sz="1250">
                <a:latin typeface="Courier New"/>
              </a:rPr>
              <a:t>        if (linestr.empty()) break;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27  </a:t>
            </a:r>
            <a:r>
              <a:rPr sz="1250">
                <a:latin typeface="Courier New"/>
              </a:rPr>
              <a:t/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src_getline_fileio.cpp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28  </a:t>
            </a:r>
            <a:r>
              <a:rPr sz="1250">
                <a:latin typeface="Courier New"/>
              </a:rPr>
              <a:t>        student_id=linestr.substr(0,8);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29  </a:t>
            </a:r>
            <a:r>
              <a:rPr sz="1250">
                <a:latin typeface="Courier New"/>
              </a:rPr>
              <a:t>        name=linestr.substr(10,10);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30  </a:t>
            </a:r>
            <a:r>
              <a:rPr sz="1250">
                <a:latin typeface="Courier New"/>
              </a:rPr>
              <a:t>        dept=linestr.substr(20,10);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31  </a:t>
            </a:r>
            <a:r>
              <a:rPr sz="1250">
                <a:latin typeface="Courier New"/>
              </a:rPr>
              <a:t>        age=stoi(linestr.substr(30,3));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32  </a:t>
            </a:r>
            <a:r>
              <a:rPr sz="1250">
                <a:latin typeface="Courier New"/>
              </a:rPr>
              <a:t>        GPA=stod(linestr.substr(40,4));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34  </a:t>
            </a:r>
            <a:r>
              <a:rPr sz="1250">
                <a:latin typeface="Courier New"/>
              </a:rPr>
              <a:t>        cout &lt;&lt; "student_id: " &lt;&lt; student_id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35  </a:t>
            </a:r>
            <a:r>
              <a:rPr sz="1250">
                <a:latin typeface="Courier New"/>
              </a:rPr>
              <a:t>        cout &lt;&lt; "name: " &lt;&lt; name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36  </a:t>
            </a:r>
            <a:r>
              <a:rPr sz="1250">
                <a:latin typeface="Courier New"/>
              </a:rPr>
              <a:t>        cout &lt;&lt; "department: " &lt;&lt; dept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37  </a:t>
            </a:r>
            <a:r>
              <a:rPr sz="1250">
                <a:latin typeface="Courier New"/>
              </a:rPr>
              <a:t>        cout &lt;&lt; "age: " &lt;&lt; age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38  </a:t>
            </a:r>
            <a:r>
              <a:rPr sz="1250">
                <a:latin typeface="Courier New"/>
              </a:rPr>
              <a:t>        cout &lt;&lt; "GPA(score): " &lt;&lt; GPA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39  </a:t>
            </a:r>
            <a:r>
              <a:rPr sz="1250">
                <a:latin typeface="Courier New"/>
              </a:rPr>
              <a:t>        GPA_total += GPA;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40  </a:t>
            </a:r>
            <a:r>
              <a:rPr sz="1250">
                <a:latin typeface="Courier New"/>
              </a:rPr>
              <a:t>        count++;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41  </a:t>
            </a:r>
            <a:r>
              <a:rPr sz="1250">
                <a:latin typeface="Courier New"/>
              </a:rPr>
              <a:t>        temp_str=format("{:10s}{:20s}{:20s}{:10d}{:10.2f}\n",student_id,name,dept,age,GPA);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42  </a:t>
            </a:r>
            <a:r>
              <a:rPr sz="1250">
                <a:latin typeface="Courier New"/>
              </a:rPr>
              <a:t>        cout &lt;&lt; temp_str;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43  </a:t>
            </a:r>
            <a:r>
              <a:rPr sz="1250">
                <a:latin typeface="Courier New"/>
              </a:rPr>
              <a:t>        out &lt;&lt; temp_str;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44  </a:t>
            </a:r>
            <a:r>
              <a:rPr sz="1250">
                <a:latin typeface="Courier New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45  </a:t>
            </a:r>
            <a:r>
              <a:rPr sz="1250">
                <a:latin typeface="Courier New"/>
              </a:rPr>
              <a:t>  myfile.close();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46  </a:t>
            </a:r>
            <a:r>
              <a:rPr sz="1250">
                <a:latin typeface="Courier New"/>
              </a:rPr>
              <a:t>  out.close();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47  </a:t>
            </a:r>
            <a:r>
              <a:rPr sz="1250">
                <a:latin typeface="Courier New"/>
              </a:rPr>
              <a:t>    cout &lt;&lt; "GPA average: " &lt;&lt; GPA_total/count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49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50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example.txt (src_getline_fileio 입력)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20221523  Lisa_Kim  Comp_Sci  21        4.12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20242123  Homer_Lee Elec_Eng  22        3.51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>20231118  Bart_Park Mech_Eng  23        3.81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src_string_cstyle.c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&lt;stdio.h&gt;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#include &lt;string.h&gt;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>#include &lt;stdlib.h&gt;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>int main(void)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>    // 1. Creating strings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>    char s1[100] = "Hello";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    char s2[100] = "World";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    char s3[200] = "";             // empty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// 2. Concatenation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strcpy(s3, s1);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>    strcat(s3, " 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>    strcat(s3, s2);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>    printf("%s\n", s3);            // Hello World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    // 3. Length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18  </a:t>
            </a:r>
            <a:r>
              <a:rPr sz="1250">
                <a:latin typeface="Courier New"/>
              </a:rPr>
              <a:t>    printf("Length: %zu\n", strlen(s3));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19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20  </a:t>
            </a:r>
            <a:r>
              <a:rPr sz="1250">
                <a:latin typeface="Courier New"/>
              </a:rPr>
              <a:t>    // 4. Accessing individual characters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21  </a:t>
            </a:r>
            <a:r>
              <a:rPr sz="1250">
                <a:latin typeface="Courier New"/>
              </a:rPr>
              <a:t>    printf("%c\n", s3[0]);         // H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22  </a:t>
            </a:r>
            <a:r>
              <a:rPr sz="1250">
                <a:latin typeface="Courier New"/>
              </a:rPr>
              <a:t>    printf("%c\n", s3[1]);         // e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24  </a:t>
            </a:r>
            <a:r>
              <a:rPr sz="1250">
                <a:latin typeface="Courier New"/>
              </a:rPr>
              <a:t>    // 5. Modifying a character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25  </a:t>
            </a:r>
            <a:r>
              <a:rPr sz="1250">
                <a:latin typeface="Courier New"/>
              </a:rPr>
              <a:t>    s3[0] = 'h';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26  </a:t>
            </a:r>
            <a:r>
              <a:rPr sz="1250">
                <a:latin typeface="Courier New"/>
              </a:rPr>
              <a:t>    printf("%s\n", s3);            // hello World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27  </a:t>
            </a:r>
            <a:r>
              <a:rPr sz="1250">
                <a:latin typeface="Courier New"/>
              </a:rPr>
              <a:t/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src_string_cstyle.c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28  </a:t>
            </a:r>
            <a:r>
              <a:rPr sz="1250">
                <a:latin typeface="Courier New"/>
              </a:rPr>
              <a:t>    // 6. Adding text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29  </a:t>
            </a:r>
            <a:r>
              <a:rPr sz="1250">
                <a:latin typeface="Courier New"/>
              </a:rPr>
              <a:t>    strcat(s3, "!");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30  </a:t>
            </a:r>
            <a:r>
              <a:rPr sz="1250">
                <a:latin typeface="Courier New"/>
              </a:rPr>
              <a:t>    strcat(s3, " C");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31  </a:t>
            </a:r>
            <a:r>
              <a:rPr sz="1250">
                <a:latin typeface="Courier New"/>
              </a:rPr>
              <a:t>    printf("%s\n", s3);            // hello World! C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32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33  </a:t>
            </a:r>
            <a:r>
              <a:rPr sz="1250">
                <a:latin typeface="Courier New"/>
              </a:rPr>
              <a:t>    // 7. Finding a substring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34  </a:t>
            </a:r>
            <a:r>
              <a:rPr sz="1250">
                <a:latin typeface="Courier New"/>
              </a:rPr>
              <a:t>    char *pos = strstr(s3, "World");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35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36  </a:t>
            </a:r>
            <a:r>
              <a:rPr sz="1250">
                <a:latin typeface="Courier New"/>
              </a:rPr>
              <a:t>    if (pos != NULL)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37  </a:t>
            </a:r>
            <a:r>
              <a:rPr sz="1250">
                <a:latin typeface="Courier New"/>
              </a:rPr>
              <a:t>        printf("Found at index: %td\n", pos - s3);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39  </a:t>
            </a:r>
            <a:r>
              <a:rPr sz="1250">
                <a:latin typeface="Courier New"/>
              </a:rPr>
              <a:t>    // 8. Extracting a substring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40  </a:t>
            </a:r>
            <a:r>
              <a:rPr sz="1250">
                <a:latin typeface="Courier New"/>
              </a:rPr>
              <a:t>    char sub[6];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41  </a:t>
            </a:r>
            <a:r>
              <a:rPr sz="1250">
                <a:latin typeface="Courier New"/>
              </a:rPr>
              <a:t>    strncpy(sub, s3 + 6, 5);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42  </a:t>
            </a:r>
            <a:r>
              <a:rPr sz="1250">
                <a:latin typeface="Courier New"/>
              </a:rPr>
              <a:t>    sub[5] = '\0';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43  </a:t>
            </a:r>
            <a:r>
              <a:rPr sz="1250">
                <a:latin typeface="Courier New"/>
              </a:rPr>
              <a:t>    printf("%s\n", sub);           // World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45  </a:t>
            </a:r>
            <a:r>
              <a:rPr sz="1250">
                <a:latin typeface="Courier New"/>
              </a:rPr>
              <a:t>    // 9. Replacing part of a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46  </a:t>
            </a:r>
            <a:r>
              <a:rPr sz="1250">
                <a:latin typeface="Courier New"/>
              </a:rPr>
              <a:t>    // replacement is not supported in C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48  </a:t>
            </a:r>
            <a:r>
              <a:rPr sz="1250">
                <a:latin typeface="Courier New"/>
              </a:rPr>
              <a:t>    // 10. Inserting text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49  </a:t>
            </a:r>
            <a:r>
              <a:rPr sz="1250">
                <a:latin typeface="Courier New"/>
              </a:rPr>
              <a:t>    // insertion is not supported in C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50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51  </a:t>
            </a:r>
            <a:r>
              <a:rPr sz="1250">
                <a:latin typeface="Courier New"/>
              </a:rPr>
              <a:t>    // 11. Erasing part of a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52  </a:t>
            </a:r>
            <a:r>
              <a:rPr sz="1250">
                <a:latin typeface="Courier New"/>
              </a:rPr>
              <a:t>    // erase 6 characters starting at index 5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53  </a:t>
            </a:r>
            <a:r>
              <a:rPr sz="1250">
                <a:latin typeface="Courier New"/>
              </a:rPr>
              <a:t>    // erase is not supported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54  </a:t>
            </a:r>
            <a:r>
              <a:rPr sz="1250">
                <a:latin typeface="Courier New"/>
              </a:rPr>
              <a:t/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src_string_cstyle.c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55  </a:t>
            </a:r>
            <a:r>
              <a:rPr sz="1250">
                <a:latin typeface="Courier New"/>
              </a:rPr>
              <a:t>    // 12. String comparison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56  </a:t>
            </a:r>
            <a:r>
              <a:rPr sz="1250">
                <a:latin typeface="Courier New"/>
              </a:rPr>
              <a:t>    char a[] = "apple";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57  </a:t>
            </a:r>
            <a:r>
              <a:rPr sz="1250">
                <a:latin typeface="Courier New"/>
              </a:rPr>
              <a:t>    char b[] = "banana";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59  </a:t>
            </a:r>
            <a:r>
              <a:rPr sz="1250">
                <a:latin typeface="Courier New"/>
              </a:rPr>
              <a:t>    if (strcmp(a, b) &lt; 0)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60  </a:t>
            </a:r>
            <a:r>
              <a:rPr sz="1250">
                <a:latin typeface="Courier New"/>
              </a:rPr>
              <a:t>        printf("apple comes before banana\n");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61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62  </a:t>
            </a:r>
            <a:r>
              <a:rPr sz="1250">
                <a:latin typeface="Courier New"/>
              </a:rPr>
              <a:t>    if (strcmp(a, "apple") == 0)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63  </a:t>
            </a:r>
            <a:r>
              <a:rPr sz="1250">
                <a:latin typeface="Courier New"/>
              </a:rPr>
              <a:t>        printf("a is apple\n");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65  </a:t>
            </a:r>
            <a:r>
              <a:rPr sz="1250">
                <a:latin typeface="Courier New"/>
              </a:rPr>
              <a:t>    // 13. Checking whether a string is empty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66  </a:t>
            </a:r>
            <a:r>
              <a:rPr sz="1250">
                <a:latin typeface="Courier New"/>
              </a:rPr>
              <a:t>    if (strlen(s3) == 0)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67  </a:t>
            </a:r>
            <a:r>
              <a:rPr sz="1250">
                <a:latin typeface="Courier New"/>
              </a:rPr>
              <a:t>        printf("String is empty\n");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69  </a:t>
            </a:r>
            <a:r>
              <a:rPr sz="1250">
                <a:latin typeface="Courier New"/>
              </a:rPr>
              <a:t>    // 14. Iterating through characters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70  </a:t>
            </a:r>
            <a:r>
              <a:rPr sz="1250">
                <a:latin typeface="Courier New"/>
              </a:rPr>
              <a:t>    for (size_t i = 0; i &lt; strlen(s3); i++)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71  </a:t>
            </a:r>
            <a:r>
              <a:rPr sz="1250">
                <a:latin typeface="Courier New"/>
              </a:rPr>
              <a:t>        printf("%c ", s3[i]);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72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73  </a:t>
            </a:r>
            <a:r>
              <a:rPr sz="1250">
                <a:latin typeface="Courier New"/>
              </a:rPr>
              <a:t>    printf("\n");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75  </a:t>
            </a:r>
            <a:r>
              <a:rPr sz="1250">
                <a:latin typeface="Courier New"/>
              </a:rPr>
              <a:t>    // 15. C-style string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76  </a:t>
            </a:r>
            <a:r>
              <a:rPr sz="1250">
                <a:latin typeface="Courier New"/>
              </a:rPr>
              <a:t>    const char *p = s3;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77  </a:t>
            </a:r>
            <a:r>
              <a:rPr sz="1250">
                <a:latin typeface="Courier New"/>
              </a:rPr>
              <a:t>    printf("%s\n", p);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79  </a:t>
            </a:r>
            <a:r>
              <a:rPr sz="1250">
                <a:latin typeface="Courier New"/>
              </a:rPr>
              <a:t>    // 16. Numeric conversions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80  </a:t>
            </a:r>
            <a:r>
              <a:rPr sz="1250">
                <a:latin typeface="Courier New"/>
              </a:rPr>
              <a:t>    char doubleStr[] = "123.45";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81  </a:t>
            </a:r>
            <a:r>
              <a:rPr sz="1250">
                <a:latin typeface="Courier New"/>
              </a:rPr>
              <a:t>    char intStr[] = "67";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src_string_cstyle.c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82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83  </a:t>
            </a:r>
            <a:r>
              <a:rPr sz="1250">
                <a:latin typeface="Courier New"/>
              </a:rPr>
              <a:t>    double dval = atof(doubleStr);   // String to double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84  </a:t>
            </a:r>
            <a:r>
              <a:rPr sz="1250">
                <a:latin typeface="Courier New"/>
              </a:rPr>
              <a:t>    int ival = (int)atoi(intStr); // String to int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85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86  </a:t>
            </a:r>
            <a:r>
              <a:rPr sz="1250">
                <a:latin typeface="Courier New"/>
              </a:rPr>
              <a:t>    char formatted1[50];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87  </a:t>
            </a:r>
            <a:r>
              <a:rPr sz="1250">
                <a:latin typeface="Courier New"/>
              </a:rPr>
              <a:t>    char formatted2[50];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89  </a:t>
            </a:r>
            <a:r>
              <a:rPr sz="1250">
                <a:latin typeface="Courier New"/>
              </a:rPr>
              <a:t>    sprintf(formatted1, "%f", dval * 2);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90  </a:t>
            </a:r>
            <a:r>
              <a:rPr sz="1250">
                <a:latin typeface="Courier New"/>
              </a:rPr>
              <a:t>    sprintf(formatted2, "%d", ival * 2);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91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92  </a:t>
            </a:r>
            <a:r>
              <a:rPr sz="1250">
                <a:latin typeface="Courier New"/>
              </a:rPr>
              <a:t>    printf("conversion result: %s , %s\n",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93  </a:t>
            </a:r>
            <a:r>
              <a:rPr sz="1250">
                <a:latin typeface="Courier New"/>
              </a:rPr>
              <a:t>           formatted1, formatted2);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94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95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96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src_array.cpp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1  </a:t>
            </a:r>
            <a:r>
              <a:rPr sz="1250">
                <a:latin typeface="Courier New"/>
              </a:rPr>
              <a:t>#include &lt;iostream&gt;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2  </a:t>
            </a:r>
            <a:r>
              <a:rPr sz="1250">
                <a:latin typeface="Courier New"/>
              </a:rPr>
              <a:t>using namespace std;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4  </a:t>
            </a:r>
            <a:r>
              <a:rPr sz="1250">
                <a:latin typeface="Courier New"/>
              </a:rPr>
              <a:t>int main()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5  </a:t>
            </a:r>
            <a:r>
              <a:rPr sz="1250">
                <a:latin typeface="Courier New"/>
              </a:rPr>
              <a:t>    // 1. Standard Array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6  </a:t>
            </a:r>
            <a:r>
              <a:rPr sz="1250">
                <a:latin typeface="Courier New"/>
              </a:rPr>
              <a:t>    int stackArray[3] = {10, 20, 30};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8  </a:t>
            </a:r>
            <a:r>
              <a:rPr sz="1250">
                <a:latin typeface="Courier New"/>
              </a:rPr>
              <a:t>    // 2. Dynamic Memory Allocation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 9  </a:t>
            </a:r>
            <a:r>
              <a:rPr sz="1250">
                <a:latin typeface="Courier New"/>
              </a:rPr>
              <a:t>    int size;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10  </a:t>
            </a:r>
            <a:r>
              <a:rPr sz="1250">
                <a:latin typeface="Courier New"/>
              </a:rPr>
              <a:t>    cout &lt;&lt; "input size: 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11  </a:t>
            </a:r>
            <a:r>
              <a:rPr sz="1250">
                <a:latin typeface="Courier New"/>
              </a:rPr>
              <a:t>    cin &gt;&gt; size;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12  </a:t>
            </a:r>
            <a:r>
              <a:rPr sz="1250">
                <a:latin typeface="Courier New"/>
              </a:rPr>
              <a:t>    int* heapArray = new int[size];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14  </a:t>
            </a:r>
            <a:r>
              <a:rPr sz="1250">
                <a:latin typeface="Courier New"/>
              </a:rPr>
              <a:t>    // 3. Pointer Operations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15  </a:t>
            </a:r>
            <a:r>
              <a:rPr sz="1250">
                <a:latin typeface="Courier New"/>
              </a:rPr>
              <a:t>    int* ptrToStack = stackArray;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16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17  </a:t>
            </a:r>
            <a:r>
              <a:rPr sz="1250">
                <a:latin typeface="Courier New"/>
              </a:rPr>
              <a:t>    // Populate the heap array using pointer offset notation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18  </a:t>
            </a:r>
            <a:r>
              <a:rPr sz="1250">
                <a:latin typeface="Courier New"/>
              </a:rPr>
              <a:t>    cout &lt;&lt; "enter " &lt;&lt; size &lt;&lt; " integers: 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19  </a:t>
            </a:r>
            <a:r>
              <a:rPr sz="1250">
                <a:latin typeface="Courier New"/>
              </a:rPr>
              <a:t>    for (int i = 0; i &lt; size; ++i)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20  </a:t>
            </a:r>
            <a:r>
              <a:rPr sz="1250">
                <a:latin typeface="Courier New"/>
              </a:rPr>
              <a:t>        cin &gt;&gt; heapArray[i];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21  </a:t>
            </a:r>
            <a:r>
              <a:rPr sz="1250">
                <a:latin typeface="Courier New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22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23  </a:t>
            </a:r>
            <a:r>
              <a:rPr sz="1250">
                <a:latin typeface="Courier New"/>
              </a:rPr>
              <a:t>    // 4. Output Comparisons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24  </a:t>
            </a:r>
            <a:r>
              <a:rPr sz="1250">
                <a:latin typeface="Courier New"/>
              </a:rPr>
              <a:t>    for (int i = 0; i &lt; 3; ++i)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25  </a:t>
            </a:r>
            <a:r>
              <a:rPr sz="1250">
                <a:latin typeface="Courier New"/>
              </a:rPr>
              <a:t>        cout &lt;&lt; "stackArray[" &lt;&lt; i &lt;&lt; "]=" &lt;&lt; stackArray[i] 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26  </a:t>
            </a:r>
            <a:r>
              <a:rPr sz="1250">
                <a:latin typeface="Courier New"/>
              </a:rPr>
              <a:t>             &lt;&lt; " | *(ptrToStack+" &lt;&lt; i &lt;&lt; ")=" &lt;&lt; *(ptrToStack + i)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27  </a:t>
            </a:r>
            <a:r>
              <a:rPr sz="1250">
                <a:latin typeface="Courier New"/>
              </a:rPr>
              <a:t>    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</p:spPr>
        <p:txBody>
          <a:bodyPr/>
          <a:lstStyle/>
          <a:p>
            <a:r>
              <a:rPr sz="2200" b="1"/>
              <a:t>src_array.cpp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28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29  </a:t>
            </a:r>
            <a:r>
              <a:rPr sz="1250">
                <a:latin typeface="Courier New"/>
              </a:rPr>
              <a:t>    for (int i = 0; i &lt; size; ++i) {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30  </a:t>
            </a:r>
            <a:r>
              <a:rPr sz="1250">
                <a:latin typeface="Courier New"/>
              </a:rPr>
              <a:t>        cout &lt;&lt; "*(heapArray+" &lt;&lt; i &lt;&lt; ")= " &lt;&lt; *(heapArray + i)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31  </a:t>
            </a:r>
            <a:r>
              <a:rPr sz="1250">
                <a:latin typeface="Courier New"/>
              </a:rPr>
              <a:t>                  &lt;&lt; " | heapArray[" &lt;&lt; i &lt;&lt; "]=" &lt;&lt; heapArray[i] &lt;&lt; "\n";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32  </a:t>
            </a:r>
            <a:r>
              <a:rPr sz="1250">
                <a:latin typeface="Courier New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33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34  </a:t>
            </a:r>
            <a:r>
              <a:rPr sz="1250">
                <a:latin typeface="Courier New"/>
              </a:rPr>
              <a:t>    // 5. Memory Cleanup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35  </a:t>
            </a:r>
            <a:r>
              <a:rPr sz="1250">
                <a:latin typeface="Courier New"/>
              </a:rPr>
              <a:t>    // Only heap-allocated memory requires manual deletion.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36  </a:t>
            </a:r>
            <a:r>
              <a:rPr sz="1250">
                <a:latin typeface="Courier New"/>
              </a:rPr>
              <a:t>    delete[] heapArray;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37  </a:t>
            </a:r>
            <a:r>
              <a:rPr sz="1250"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38  </a:t>
            </a:r>
            <a:r>
              <a:rPr sz="1250">
                <a:latin typeface="Courier New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999999"/>
                </a:solidFill>
                <a:latin typeface="Courier New"/>
              </a:rPr>
              <a:t> 39  </a:t>
            </a:r>
            <a:r>
              <a:rPr sz="125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2069</Words>
  <Application>Microsoft Macintosh PowerPoint</Application>
  <PresentationFormat>화면 슬라이드 쇼(4:3)</PresentationFormat>
  <Paragraphs>388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7" baseType="lpstr">
      <vt:lpstr>굴림</vt:lpstr>
      <vt:lpstr>맑은 고딕</vt:lpstr>
      <vt:lpstr>Arial</vt:lpstr>
      <vt:lpstr>Courier New</vt:lpstr>
      <vt:lpstr>Tahoma</vt:lpstr>
      <vt:lpstr>Times New Roman</vt:lpstr>
      <vt:lpstr>Wingdings</vt:lpstr>
      <vt:lpstr>Office 테마</vt:lpstr>
      <vt:lpstr>C++ in Summary </vt:lpstr>
      <vt:lpstr>1. C++ Compiler</vt:lpstr>
      <vt:lpstr>2. Useful Youtube Tutorials for  C++ Beginner</vt:lpstr>
      <vt:lpstr>Visual Studio 2008 :  Creating Command-Line Program</vt:lpstr>
      <vt:lpstr>Visual Studio 2008 Creating Command-Line Program</vt:lpstr>
      <vt:lpstr>Visual Studio 2008 Creating Command-Line Program</vt:lpstr>
      <vt:lpstr>Visual Studio 2008 Creating Command-Line Program</vt:lpstr>
      <vt:lpstr>Visual Studio 2008 Creating Command-Line Program</vt:lpstr>
      <vt:lpstr>3. “Hello World!” code</vt:lpstr>
      <vt:lpstr>4. Standard Input/Output</vt:lpstr>
      <vt:lpstr>4. Standard Input/Output</vt:lpstr>
      <vt:lpstr>Formatting</vt:lpstr>
      <vt:lpstr>5. Variables and Data Types</vt:lpstr>
      <vt:lpstr>6. string type</vt:lpstr>
      <vt:lpstr>7 : Control Structures if, loop (while, for)</vt:lpstr>
      <vt:lpstr>Conditional Statement: if</vt:lpstr>
      <vt:lpstr>while - loop</vt:lpstr>
      <vt:lpstr>for - loop</vt:lpstr>
      <vt:lpstr>break &amp; continue</vt:lpstr>
      <vt:lpstr>8. Functions</vt:lpstr>
      <vt:lpstr>why use functions?</vt:lpstr>
      <vt:lpstr>9. array</vt:lpstr>
      <vt:lpstr>10. pointer</vt:lpstr>
      <vt:lpstr>PowerPoint 프레젠테이션</vt:lpstr>
      <vt:lpstr>12. C++ class</vt:lpstr>
      <vt:lpstr>class</vt:lpstr>
      <vt:lpstr>PowerPoint 프레젠테이션</vt:lpstr>
      <vt:lpstr>PowerPoint 프레젠테이션</vt:lpstr>
      <vt:lpstr>13. C++ File Processing</vt:lpstr>
      <vt:lpstr>PowerPoint 프레젠테이션</vt:lpstr>
      <vt:lpstr>File Processing</vt:lpstr>
      <vt:lpstr>File open mode</vt:lpstr>
      <vt:lpstr>File Open/Close</vt:lpstr>
      <vt:lpstr>Text File (Write)- Example</vt:lpstr>
      <vt:lpstr>Text File (Read) - Example</vt:lpstr>
      <vt:lpstr>Status Check</vt:lpstr>
      <vt:lpstr>Get and Put Stream Positioning</vt:lpstr>
      <vt:lpstr>File Position Example</vt:lpstr>
      <vt:lpstr>Binary File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Studio 2008 :  Creating Command-Line Program</dc:title>
  <dc:creator>bongbong</dc:creator>
  <cp:lastModifiedBy>Microsoft Office User</cp:lastModifiedBy>
  <cp:revision>28</cp:revision>
  <dcterms:created xsi:type="dcterms:W3CDTF">2014-09-16T05:42:02Z</dcterms:created>
  <dcterms:modified xsi:type="dcterms:W3CDTF">2026-09-11T01:04:12Z</dcterms:modified>
</cp:coreProperties>
</file>