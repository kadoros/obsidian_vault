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35"/>
  </p:notesMasterIdLst>
  <p:sldIdLst>
    <p:sldId id="256" r:id="rId2"/>
    <p:sldId id="274" r:id="rId3"/>
    <p:sldId id="311" r:id="rId4"/>
    <p:sldId id="277" r:id="rId5"/>
    <p:sldId id="276" r:id="rId6"/>
    <p:sldId id="309" r:id="rId7"/>
    <p:sldId id="280" r:id="rId8"/>
    <p:sldId id="310" r:id="rId9"/>
    <p:sldId id="278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4" r:id="rId29"/>
    <p:sldId id="305" r:id="rId30"/>
    <p:sldId id="306" r:id="rId31"/>
    <p:sldId id="307" r:id="rId32"/>
    <p:sldId id="303" r:id="rId33"/>
    <p:sldId id="308" r:id="rId34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F321ECE-1F95-2E8F-A6D2-6B38747B6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F1820E-2335-977E-DA43-91B455E1BB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6849F552-AA59-0341-8AA6-D60F23F27655}" type="datetimeFigureOut">
              <a:rPr lang="ko-KR" altLang="en-US"/>
              <a:pPr>
                <a:defRPr/>
              </a:pPr>
              <a:t>2026. 9. 22.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52639D1-9639-E967-DDE1-DDC876CAD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2C79734-FCBF-2CA3-A906-C26BC798D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9AABE4-E893-C0C7-3915-15EDBDBE7F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D01B89-BBD6-56A1-3944-8CE564B1D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30A27FB-AAA7-3E49-A65D-23AF51D3068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>
            <a:extLst>
              <a:ext uri="{FF2B5EF4-FFF2-40B4-BE49-F238E27FC236}">
                <a16:creationId xmlns:a16="http://schemas.microsoft.com/office/drawing/2014/main" id="{6ECD02E5-B2AD-1C2B-E8A9-51AF2F76C6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슬라이드 노트 개체 틀 2">
            <a:extLst>
              <a:ext uri="{FF2B5EF4-FFF2-40B4-BE49-F238E27FC236}">
                <a16:creationId xmlns:a16="http://schemas.microsoft.com/office/drawing/2014/main" id="{8B97875C-8A09-0E25-50B8-0AF6570CA6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7892" name="슬라이드 번호 개체 틀 3">
            <a:extLst>
              <a:ext uri="{FF2B5EF4-FFF2-40B4-BE49-F238E27FC236}">
                <a16:creationId xmlns:a16="http://schemas.microsoft.com/office/drawing/2014/main" id="{48ECF1E9-59CD-B4DC-DD87-99FD89761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fld id="{328849C0-05B5-934C-9F4F-329369F2D041}" type="slidenum">
              <a:rPr lang="ko-KR" altLang="en-US"/>
              <a:pPr eaLnBrk="1" hangingPunct="1"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41FEAF-E14F-B73E-1534-117BE42C603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451DE6D-0C32-1F5C-8017-A87A46B63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12812BE-FEFA-D594-8179-A44AB40ED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37BDC02-0B3E-7106-414B-E19AC4184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9E415CC-0CD5-1604-7459-53DC35072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678C7CD-11EB-5297-898C-43E994FD0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019B0B5-392B-40FC-11C5-ED2854CBC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6096D49-D8E5-DF72-592A-19502CCF5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3629F394-36D6-16E2-B311-835B9C09E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23671BB8-BDBD-1FEA-186D-F3F5D70D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CCF97AC1-C468-12F8-9C09-E18CC61D1A6E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04379CF8-617A-D3E0-45D5-FAB597502CB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F07BE402-9037-A9F9-2A6D-A879A5F0350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3DE4CCD-B0FE-B1DF-2032-26DB8F5007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6ACB008F-D01B-77D3-6F6A-48B7BDA01C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8A765DD-F7EE-3541-C448-AD73042A2DD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56457CA-91B0-DB9E-280C-2F5647529BC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F88B3FAF-D7AB-87B1-13EF-190E0AA5756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8116D732-9598-EBB9-714E-9366F7DD213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2E0A7BBA-4A0F-4E5D-B250-CFAD52FF0CC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0C53E506-DAC4-FA24-C135-ADAD4744083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C33BBAA7-5727-DB60-3E51-02DFD52EA8E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3ECE71D-F5B1-A9E2-3EC9-2074B0F603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BD763637-CB8B-F57E-EEE7-8990BE40DEE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D6EEAB22-3CB0-687E-D0F7-C8FCD03390D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2E753819-74BD-58CA-52CF-9571062408F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E23EF810-4163-69AA-B086-1869532FD5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BE8D42EC-F9E7-C638-0CF9-0B7156E01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08ADD-8823-6C4B-8962-ABA15E884A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460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29FD4B1-3092-B05E-9690-7193736AA7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71AEC9-0FD3-1C7B-8BC6-89D6B5D35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D769735F-BFD7-0FC2-D2C4-E13DCF69D8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3E8D2E-4A5B-A546-BF11-228F01AE558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851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F72022CF-BF4B-9D84-88F0-EB30A78E0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E50B193-0215-4650-55FE-9FC38F8731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4DD61DE-799D-9C76-C3A6-E25CD4B84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7E7B0-7BA8-F944-A887-CC7AE9119AD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43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F129118F-A168-C42D-7009-0525AEC43F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E8367815-AE33-EC38-D425-535E038D3E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52FA9C23-8AE8-C40A-0180-62F60D40EB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F9B5BB-81CB-3B48-A3EE-9C3DC6CE398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839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D411A53-F693-212D-57B9-B0550E0826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AD0F56D8-8480-A0ED-C3DF-FABBE57219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5ED001B9-3D33-E159-8689-72B188069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ECD7AC-6858-1A48-8AB2-B7A3F95079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140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C089D6C9-0D15-3732-5E89-38EAA4DB5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8E1E8656-F543-D8CA-0901-F660D1831A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B722F686-FE93-2097-10B1-8A1B29857E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30FBC7-4B6F-CD48-9417-5553927F557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368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217C014E-FC8B-67AE-46DA-C8FB41CD7A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28562ED9-8DA1-BC9F-5B3A-8E0C929F63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D764DE3A-4AE4-5C51-31F7-20EBA47067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E0D1C2-6025-D448-9A72-4A63B492FE3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14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C6B538C-9F33-8FC9-A04A-3AAC00DA1E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9AE2610-BCB9-2C00-F93C-C0333A20EA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74334AE6-DDBF-8A9F-2C9E-62D46FC72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189B0D-D0C0-D342-B481-7942BA454F5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059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91B39FF9-92C1-5D00-0CB0-C212A27ED6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8A56E6E-F8B0-5921-293A-DD0815DC1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507E155-295C-74B4-F19D-3361885617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CF7EAA-0FC7-6B40-88F2-C9C84925D7E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135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7BFD8B2-2DD1-87C3-C6D6-CB6EB7EEA9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3BDEC28-B136-A682-4722-F719839004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06FCD42-F795-3110-87CD-DDC05A2DA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3059F2-4477-DF41-AE3E-1C84C1228BC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818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7C4F064-6FBD-1E4E-63E6-AC0141477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9BB72B8-F264-90FC-CE2C-9B4B13E718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E81CC1FB-3E37-FC52-AC10-47BD1D295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BE178-8E56-864B-9574-EDBFABD0A7F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665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944028A-1095-7E32-C3CF-9FA66848DA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B1EEF0B-72FC-2C3E-E1E6-21B453D1E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9B94A97-6728-308F-1F40-7EA5457A6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A4D8F4-8212-D244-8FB5-4DA3ACF59EB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79306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DBD00F7-D11B-9DEB-D00D-FA9762E2FBA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C77F2D42-6418-BB64-5FF8-9844EB3E8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F7BA9DF8-1407-198D-37E5-045059A68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28826699-839D-C430-E0BD-72E03357D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602765A4-0366-2E59-87BD-27AF07C99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CC42E951-A9EE-2D88-590A-EC5A3BBA6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16EC27AB-2866-D5F2-96D2-CD939D473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3E68A982-1B18-E658-21C8-82239968A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2B4792CF-CEFA-6E4F-9F0C-E703D70C9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F875EADC-9B2D-8F47-8B1A-E6DD6D8FE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D3BB7879-BE23-28A7-D45F-A10851F3E3CB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06C0D4A0-F95A-D9C3-C430-7792A0F63F1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8AB401D7-AC66-F8F7-10B4-3FE3A72EAE2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71F2484A-E66D-7959-F55D-7524F6CFC87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6C3B08B7-B799-7679-ADE9-DCC1B4E831A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893C2653-9CD9-F4F5-9C8A-E8B33055E51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C1C510A0-4F92-A63C-79E6-FB59BF5F3A7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B13AD9AA-BE91-C300-DB3A-F87A7D60C74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8C102FAD-7C31-6579-0084-E0D3ABFBAA8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63B139F5-DAC5-483B-2BAF-9B40995B06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C16A4680-2479-FEFB-6521-83D9AED380C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BAA72DFE-93D3-4983-B417-EF8B7E16E77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AD589A4A-B5E3-9F1C-AAF1-DA3E3422138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DFFC4AB1-0469-1479-D2D2-9B63B7957F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D6FCD553-1E8D-DF9E-743B-82C5F0A60D7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1B820D43-C788-6A71-7FE9-1032308C2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1D721E52-BD44-5EE9-A113-4A721E544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5890FAF4-69B8-7897-1F55-3A49E09DC1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06B2F75E-550B-09EE-E9E2-A2B46C1E11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9517AFD5-867C-32B9-761A-46EA8F8BC5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2C240371-C971-8146-B7CA-0346EC79F8D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418D160-BBD8-4058-29E4-A5980F3F3C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700" b="1"/>
              <a:t>Lecture 3 : Object Oriented Design </a:t>
            </a:r>
            <a:br>
              <a:rPr lang="en-US" altLang="ko-KR" sz="3700" b="1"/>
            </a:br>
            <a:r>
              <a:rPr lang="en-US" altLang="ko-KR" sz="1600" b="1"/>
              <a:t>(chapter 3. of Timothy Budd’s “Intro to OOP” book)</a:t>
            </a:r>
            <a:endParaRPr lang="en-US" altLang="ko-KR" sz="3700" b="1"/>
          </a:p>
        </p:txBody>
      </p:sp>
      <p:sp>
        <p:nvSpPr>
          <p:cNvPr id="3075" name="TextBox 3">
            <a:extLst>
              <a:ext uri="{FF2B5EF4-FFF2-40B4-BE49-F238E27FC236}">
                <a16:creationId xmlns:a16="http://schemas.microsoft.com/office/drawing/2014/main" id="{F851215D-E202-2472-0C5F-482165807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857875"/>
            <a:ext cx="4905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/>
              <a:t>Acknowledgement : courtesy of Prof. Timothy Budd lecture slides</a:t>
            </a:r>
            <a:endParaRPr lang="ko-KR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BCC69DD2-B7EB-63AC-16EA-1157D281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OOP Technique Example : Responsibility Driven Design</a:t>
            </a:r>
            <a:endParaRPr lang="ko-KR" altLang="en-US" sz="4000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41ABEC24-3CAA-5AE3-859F-537B5C46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000"/>
              <a:t>OOP = a set of interacting objects</a:t>
            </a:r>
          </a:p>
          <a:p>
            <a:endParaRPr lang="en-US" altLang="ko-KR" sz="2000"/>
          </a:p>
          <a:p>
            <a:r>
              <a:rPr lang="en-US" altLang="ko-KR" sz="2000"/>
              <a:t>Each object is a component that has responsibility in a community. </a:t>
            </a:r>
          </a:p>
          <a:p>
            <a:endParaRPr lang="en-US" altLang="ko-KR" sz="2000"/>
          </a:p>
          <a:p>
            <a:r>
              <a:rPr lang="en-US" altLang="ko-KR" sz="2000"/>
              <a:t>System is divided into various activities that the system has to perform. Then, those activities(responsibilities) are distributed among objects in the system.</a:t>
            </a:r>
          </a:p>
          <a:p>
            <a:endParaRPr lang="en-US" altLang="ko-KR" sz="2000"/>
          </a:p>
          <a:p>
            <a:r>
              <a:rPr lang="en-US" altLang="ko-KR" sz="2000"/>
              <a:t>After completing a list of responsibilities, we need to decide a set of objects and determine which responsibilities should be assigned to which object. </a:t>
            </a:r>
          </a:p>
          <a:p>
            <a:endParaRPr lang="en-US" altLang="ko-KR" sz="2000"/>
          </a:p>
          <a:p>
            <a:r>
              <a:rPr lang="en-US" altLang="ko-KR" sz="2000"/>
              <a:t>Responsibilities in an object should be closely related.</a:t>
            </a:r>
            <a:endParaRPr lang="ko-KR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8DEFEEC8-8B49-012A-9421-661CE1A9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Design Process</a:t>
            </a:r>
            <a:endParaRPr lang="ko-KR" altLang="en-US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BEA22-7123-3539-BE61-CAB416ACF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114675" cy="218598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altLang="ko-KR" dirty="0"/>
              <a:t>Specification</a:t>
            </a:r>
          </a:p>
          <a:p>
            <a:pPr lvl="1">
              <a:defRPr/>
            </a:pPr>
            <a:r>
              <a:rPr lang="en-US" altLang="ko-KR" dirty="0"/>
              <a:t>Imprecise</a:t>
            </a:r>
          </a:p>
          <a:p>
            <a:pPr lvl="1">
              <a:defRPr/>
            </a:pPr>
            <a:r>
              <a:rPr lang="en-US" altLang="ko-KR" dirty="0"/>
              <a:t>Ambiguous</a:t>
            </a:r>
          </a:p>
          <a:p>
            <a:pPr lvl="1">
              <a:defRPr/>
            </a:pPr>
            <a:r>
              <a:rPr lang="en-US" altLang="ko-KR" dirty="0"/>
              <a:t>Unclear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D5DC052-E53A-0591-7D71-C91DD9F905F9}"/>
              </a:ext>
            </a:extLst>
          </p:cNvPr>
          <p:cNvSpPr txBox="1">
            <a:spLocks/>
          </p:cNvSpPr>
          <p:nvPr/>
        </p:nvSpPr>
        <p:spPr bwMode="auto">
          <a:xfrm>
            <a:off x="4929188" y="1928813"/>
            <a:ext cx="3286125" cy="157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3000" kern="0" dirty="0">
                <a:latin typeface="+mn-lt"/>
                <a:ea typeface="+mn-ea"/>
              </a:rPr>
              <a:t>Software System Design</a:t>
            </a:r>
          </a:p>
          <a:p>
            <a:pPr marL="800100" lvl="1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2400" kern="0" dirty="0">
                <a:latin typeface="+mn-lt"/>
                <a:ea typeface="+mn-ea"/>
              </a:rPr>
              <a:t>concrete logic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0EA9056-48E6-A027-4AFE-4B0B17989CF0}"/>
              </a:ext>
            </a:extLst>
          </p:cNvPr>
          <p:cNvCxnSpPr>
            <a:endCxn id="4" idx="1"/>
          </p:cNvCxnSpPr>
          <p:nvPr/>
        </p:nvCxnSpPr>
        <p:spPr>
          <a:xfrm>
            <a:off x="3643313" y="2714625"/>
            <a:ext cx="1285875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DBE7AB1-899A-1B62-BC67-03BDAA0F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Development Process</a:t>
            </a:r>
            <a:endParaRPr lang="ko-KR" altLang="en-US" sz="4000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BEC358DD-3783-8593-3A7F-5130B2D3A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Initial Description(Specification)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Refine Specification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Identification of Components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Identification of Components Responsibilities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Formalize the interface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Designing the subsystem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Implementing components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Integration of components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Maintenance &amp; Evolution</a:t>
            </a:r>
            <a:endParaRPr lang="ko-KR" altLang="en-US" sz="24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600C7E48-399C-EC8A-3A73-60BFEB905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4357688"/>
            <a:ext cx="20939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D8DCA8CF-BDD7-D869-A241-19AFDBC0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An Example, the IIKH</a:t>
            </a:r>
            <a:br>
              <a:rPr lang="en-US" altLang="ko-KR" sz="4000" b="1" u="sng"/>
            </a:br>
            <a:r>
              <a:rPr lang="en-US" altLang="ko-KR" sz="2800" b="1" u="sng"/>
              <a:t>IIKH(</a:t>
            </a:r>
            <a:r>
              <a:rPr lang="en-US" altLang="ko-KR" sz="2800" b="1" i="1" u="sng"/>
              <a:t>Intelligent Interactive Kitchen Helper)</a:t>
            </a:r>
            <a:endParaRPr lang="en-US" altLang="ko-KR" sz="4000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4421D0F1-23D6-9107-9092-C4492E31A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r>
              <a:rPr lang="en-US" altLang="ko-KR" sz="2400"/>
              <a:t>Imagine you are the chief software architect in a major computing firm</a:t>
            </a:r>
          </a:p>
          <a:p>
            <a:endParaRPr lang="en-US" altLang="ko-KR" sz="2400"/>
          </a:p>
          <a:p>
            <a:r>
              <a:rPr lang="en-US" altLang="ko-KR" sz="2400"/>
              <a:t>The president of the firm rushes into your office with a specification for </a:t>
            </a:r>
            <a:r>
              <a:rPr lang="en-US" altLang="ko-KR" sz="2400" b="1" u="sng">
                <a:solidFill>
                  <a:srgbClr val="FF0000"/>
                </a:solidFill>
              </a:rPr>
              <a:t>IIKH</a:t>
            </a:r>
            <a:r>
              <a:rPr lang="en-US" altLang="ko-KR" sz="2400"/>
              <a:t>, the next PC-based product. It is drawn on the back of a dinner napkin</a:t>
            </a:r>
          </a:p>
          <a:p>
            <a:endParaRPr lang="en-US" altLang="ko-KR" sz="2400"/>
          </a:p>
          <a:p>
            <a:endParaRPr lang="en-US" altLang="ko-K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201080A7-14E0-5BA4-9EDC-A311C0E6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u="sng"/>
              <a:t>1.Initial Description</a:t>
            </a:r>
            <a:endParaRPr lang="ko-KR" altLang="en-US" sz="4400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E20CB692-7FED-7701-0236-DDBFA8B9F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800"/>
              <a:t>Briefly, </a:t>
            </a:r>
            <a:r>
              <a:rPr lang="en-US" altLang="ko-KR" sz="2800" b="1" u="sng"/>
              <a:t>IIKH</a:t>
            </a:r>
            <a:r>
              <a:rPr lang="en-US" altLang="ko-KR" sz="2800"/>
              <a:t> is a PC-based application  </a:t>
            </a:r>
          </a:p>
          <a:p>
            <a:pPr lvl="1"/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that will replace the box of index cards of recipes in the average kitchen. But more than simply maintaining a database of recipes, the kitchen helper assists in the planning of meals for an extended period, say a week. The user of the IIKH can sit down at a terminal, browse the database of recipes, and interactively create a series of menus. The IIKH will automatically scale the recipes to any number of servings and will print out menus for the entire week, for a particular day, or for a particular meal. And it will print an integrated grocery list of all the items needed for the recipes for the entire period.</a:t>
            </a:r>
            <a:endParaRPr lang="en-US" altLang="ko-KR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/>
          </a:p>
          <a:p>
            <a:r>
              <a:rPr lang="en-US" altLang="ko-KR" sz="2000"/>
              <a:t>Initial description : Ambiguous, Unclear</a:t>
            </a:r>
          </a:p>
          <a:p>
            <a:r>
              <a:rPr lang="en-US" altLang="ko-KR" sz="2000"/>
              <a:t>We need to clarify the ambigueties in the description.</a:t>
            </a:r>
            <a:endParaRPr lang="en-US" altLang="ko-KR" sz="1800"/>
          </a:p>
          <a:p>
            <a:endParaRPr lang="en-US" altLang="ko-KR" sz="2800"/>
          </a:p>
          <a:p>
            <a:pPr lvl="1"/>
            <a:endParaRPr lang="en-US" altLang="ko-KR" sz="24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4A328DA6-6B2D-36CD-7628-69B93340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2. Refine Specification</a:t>
            </a:r>
            <a:br>
              <a:rPr lang="en-US" altLang="ko-KR" b="1"/>
            </a:br>
            <a:r>
              <a:rPr lang="en-US" altLang="ko-KR" sz="2000" b="1"/>
              <a:t>(Working Through Scenarios)</a:t>
            </a:r>
            <a:endParaRPr lang="ko-KR" altLang="en-US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768E6278-E6A6-1743-3B83-780D89D6D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r>
              <a:rPr lang="en-US" altLang="ko-KR" sz="2400"/>
              <a:t>Because of the ambiguity in the specification, the major tool we will use to uncover the desired behavior is to walk through application scenarios</a:t>
            </a:r>
          </a:p>
          <a:p>
            <a:pPr lvl="1"/>
            <a:r>
              <a:rPr lang="en-US" altLang="ko-KR" sz="2000"/>
              <a:t>Pretend we had already a working application. Walk through the various uses of the system</a:t>
            </a:r>
          </a:p>
          <a:p>
            <a:pPr lvl="1"/>
            <a:r>
              <a:rPr lang="en-US" altLang="ko-KR" sz="2000"/>
              <a:t>Establish the ``look and feel'' of the system</a:t>
            </a:r>
          </a:p>
          <a:p>
            <a:pPr lvl="1"/>
            <a:r>
              <a:rPr lang="en-US" altLang="ko-KR" sz="2000" b="1" u="sng"/>
              <a:t>Make sure we have uncovered all the intended uses</a:t>
            </a:r>
          </a:p>
          <a:p>
            <a:pPr lvl="1"/>
            <a:r>
              <a:rPr lang="en-US" altLang="ko-KR" sz="2000"/>
              <a:t>Develop descriptive documentation</a:t>
            </a:r>
          </a:p>
          <a:p>
            <a:pPr lvl="1"/>
            <a:r>
              <a:rPr lang="en-US" altLang="ko-KR" sz="2000"/>
              <a:t>Create the high level software design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Other authors use the term ``</a:t>
            </a:r>
            <a:r>
              <a:rPr lang="en-US" altLang="ko-KR" sz="2400" b="1" u="sng"/>
              <a:t>use-cases</a:t>
            </a:r>
            <a:r>
              <a:rPr lang="en-US" altLang="ko-KR" sz="2400"/>
              <a:t>'' for this process of developing scenarios</a:t>
            </a:r>
          </a:p>
          <a:p>
            <a:pPr lvl="1"/>
            <a:r>
              <a:rPr lang="ko-KR" altLang="en-US" sz="2000" b="1" u="sng"/>
              <a:t>시스템 사용에 대한 시나리오의 집합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049C66F8-A1AD-442F-DE4E-A3D5D7B2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Scenario Example</a:t>
            </a:r>
            <a:endParaRPr lang="ko-KR" altLang="en-US" sz="4000" b="1" u="sng"/>
          </a:p>
        </p:txBody>
      </p:sp>
      <p:pic>
        <p:nvPicPr>
          <p:cNvPr id="10243" name="Picture 2">
            <a:extLst>
              <a:ext uri="{FF2B5EF4-FFF2-40B4-BE49-F238E27FC236}">
                <a16:creationId xmlns:a16="http://schemas.microsoft.com/office/drawing/2014/main" id="{19B49E50-1B91-8717-ACCB-A42343FEB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6" t="21973" r="7590" b="7713"/>
          <a:stretch>
            <a:fillRect/>
          </a:stretch>
        </p:blipFill>
        <p:spPr bwMode="auto">
          <a:xfrm>
            <a:off x="642938" y="1354138"/>
            <a:ext cx="7929562" cy="507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40302B0F-CC5F-C5F7-68FE-FFDEB655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Abilities of the IIKH</a:t>
            </a:r>
            <a:endParaRPr lang="ko-KR" altLang="en-US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E8FA1BFE-1D4D-3BC7-AEE5-071966EB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Here are some of the things a user can do with the IIKH</a:t>
            </a:r>
          </a:p>
          <a:p>
            <a:pPr lvl="1"/>
            <a:r>
              <a:rPr lang="en-US" altLang="ko-KR"/>
              <a:t>Browse a database of recipes </a:t>
            </a:r>
          </a:p>
          <a:p>
            <a:pPr lvl="1"/>
            <a:r>
              <a:rPr lang="en-US" altLang="ko-KR"/>
              <a:t>Add a new recipe to the database </a:t>
            </a:r>
          </a:p>
          <a:p>
            <a:pPr lvl="1"/>
            <a:r>
              <a:rPr lang="en-US" altLang="ko-KR"/>
              <a:t>Edit or annotate an existing recipe </a:t>
            </a:r>
          </a:p>
          <a:p>
            <a:pPr lvl="1"/>
            <a:r>
              <a:rPr lang="en-US" altLang="ko-KR"/>
              <a:t>Plan a meal consisting of several courses </a:t>
            </a:r>
          </a:p>
          <a:p>
            <a:pPr lvl="1"/>
            <a:r>
              <a:rPr lang="en-US" altLang="ko-KR"/>
              <a:t>Scale a recipe for some number of users </a:t>
            </a:r>
          </a:p>
          <a:p>
            <a:pPr lvl="1"/>
            <a:r>
              <a:rPr lang="en-US" altLang="ko-KR"/>
              <a:t>Plan a longer period, say a week </a:t>
            </a:r>
          </a:p>
          <a:p>
            <a:pPr lvl="1"/>
            <a:r>
              <a:rPr lang="en-US" altLang="ko-KR"/>
              <a:t>Generate a grocery list that includes all the items in all the menus for a period </a:t>
            </a:r>
          </a:p>
          <a:p>
            <a:pPr lvl="1"/>
            <a:r>
              <a:rPr lang="en-US" altLang="ko-KR"/>
              <a:t>…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2702D55D-980D-DFE9-DF14-5C8F7191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3. Identification</a:t>
            </a:r>
            <a:r>
              <a:rPr lang="ko-KR" altLang="en-US" sz="4000" b="1" u="sng"/>
              <a:t> </a:t>
            </a:r>
            <a:r>
              <a:rPr lang="en-US" altLang="ko-KR" sz="4000" b="1" u="sng"/>
              <a:t>of Components</a:t>
            </a:r>
            <a:endParaRPr lang="ko-KR" altLang="en-US" sz="4000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3A253524-5A5C-2943-AD6D-157308F9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Component</a:t>
            </a:r>
          </a:p>
          <a:p>
            <a:pPr lvl="1"/>
            <a:r>
              <a:rPr lang="en-US" altLang="ko-KR" sz="2400"/>
              <a:t>an abstract design entity with which we can associate responsibilities for different tasks</a:t>
            </a:r>
          </a:p>
          <a:p>
            <a:endParaRPr lang="en-US" altLang="ko-KR" sz="2800"/>
          </a:p>
          <a:p>
            <a:pPr lvl="1"/>
            <a:r>
              <a:rPr lang="en-US" altLang="ko-KR" sz="2400"/>
              <a:t>must have a small well defined set of responsibilities </a:t>
            </a:r>
          </a:p>
          <a:p>
            <a:endParaRPr lang="en-US" altLang="ko-KR" sz="2800"/>
          </a:p>
          <a:p>
            <a:pPr lvl="1"/>
            <a:r>
              <a:rPr lang="en-US" altLang="ko-KR" sz="2400"/>
              <a:t>should interact with other components to the minimal extent possible </a:t>
            </a:r>
            <a:endParaRPr lang="ko-KR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F7065B6-531F-000B-0D12-01CB8AD7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274638"/>
            <a:ext cx="8229600" cy="1143000"/>
          </a:xfrm>
        </p:spPr>
        <p:txBody>
          <a:bodyPr/>
          <a:lstStyle/>
          <a:p>
            <a:r>
              <a:rPr lang="en-US" altLang="ko-KR" sz="2800" b="1" u="sng"/>
              <a:t>4. Identification of Components Responsibilities</a:t>
            </a:r>
            <a:endParaRPr lang="ko-KR" altLang="en-US" sz="2800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EC43C845-F017-A247-D933-217C0450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CRC Cards</a:t>
            </a:r>
          </a:p>
          <a:p>
            <a:pPr lvl="1"/>
            <a:r>
              <a:rPr lang="en-US" altLang="ko-KR"/>
              <a:t>Components are most easily described using CRC cards</a:t>
            </a:r>
          </a:p>
          <a:p>
            <a:endParaRPr lang="ko-KR" altLang="en-US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8B8C542B-9AB8-7649-59FC-FF6FB6491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3143250"/>
            <a:ext cx="4059237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9539E286-9899-551A-3824-6F46BAB01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4" t="24368" r="5934" b="6538"/>
          <a:stretch>
            <a:fillRect/>
          </a:stretch>
        </p:blipFill>
        <p:spPr bwMode="auto">
          <a:xfrm>
            <a:off x="4625975" y="3116263"/>
            <a:ext cx="4133850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C4F1E46D-6D02-F4E4-6414-8E01ADAC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The first component, The Greeter</a:t>
            </a:r>
            <a:endParaRPr lang="ko-KR" altLang="en-US" sz="36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B0C21070-656B-1D61-C3F4-DA5DCB0CB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When the application is started, the Greeter puts an informative and friendly welcome window (the greeting) on the screen</a:t>
            </a:r>
          </a:p>
          <a:p>
            <a:endParaRPr lang="en-US" altLang="ko-KR" sz="2800"/>
          </a:p>
          <a:p>
            <a:r>
              <a:rPr lang="en-US" altLang="ko-KR" sz="2800"/>
              <a:t>Actions</a:t>
            </a:r>
          </a:p>
          <a:p>
            <a:pPr lvl="1"/>
            <a:r>
              <a:rPr lang="en-US" altLang="ko-KR" sz="2400"/>
              <a:t>Casually browse the database of recipes</a:t>
            </a:r>
          </a:p>
          <a:p>
            <a:pPr lvl="1"/>
            <a:r>
              <a:rPr lang="en-US" altLang="ko-KR" sz="2400"/>
              <a:t>Add a new recipe</a:t>
            </a:r>
          </a:p>
          <a:p>
            <a:pPr lvl="1"/>
            <a:r>
              <a:rPr lang="en-US" altLang="ko-KR" sz="2400"/>
              <a:t>Edit or annotate a recipe</a:t>
            </a:r>
          </a:p>
          <a:p>
            <a:pPr lvl="1"/>
            <a:r>
              <a:rPr lang="en-US" altLang="ko-KR" sz="2400"/>
              <a:t>Review a plan for several meals</a:t>
            </a:r>
          </a:p>
          <a:p>
            <a:pPr lvl="1"/>
            <a:r>
              <a:rPr lang="en-US" altLang="ko-KR" sz="2400"/>
              <a:t>Create a plan of meals</a:t>
            </a:r>
            <a:endParaRPr lang="ko-KR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1F6EBB15-E704-0A51-09BA-F079D80A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The Recipe Database Component</a:t>
            </a:r>
            <a:endParaRPr lang="ko-KR" altLang="en-US" sz="3600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C248A6A7-025B-895E-C77A-4A7B3B4DF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Actions</a:t>
            </a:r>
          </a:p>
          <a:p>
            <a:pPr lvl="1"/>
            <a:r>
              <a:rPr lang="en-US" altLang="ko-KR"/>
              <a:t>Must Maintain the Database of recipes</a:t>
            </a:r>
          </a:p>
          <a:p>
            <a:pPr lvl="1"/>
            <a:r>
              <a:rPr lang="en-US" altLang="ko-KR"/>
              <a:t>Must Allow the user to </a:t>
            </a:r>
            <a:r>
              <a:rPr lang="en-US" altLang="ko-KR" i="1"/>
              <a:t>browse</a:t>
            </a:r>
            <a:r>
              <a:rPr lang="en-US" altLang="ko-KR"/>
              <a:t> the database</a:t>
            </a:r>
          </a:p>
          <a:p>
            <a:pPr lvl="1"/>
            <a:r>
              <a:rPr lang="en-US" altLang="ko-KR"/>
              <a:t>Must permit the user to edit or annotate an existing recipe</a:t>
            </a:r>
          </a:p>
          <a:p>
            <a:pPr lvl="1"/>
            <a:r>
              <a:rPr lang="en-US" altLang="ko-KR"/>
              <a:t>Must permit the user to add a new recipe</a:t>
            </a:r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65D38112-6707-5095-855C-EFB664C3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Responsibilities of a Recipe</a:t>
            </a:r>
            <a:endParaRPr lang="ko-KR" altLang="en-US" u="sng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DE9F9789-B623-9B24-AD10-0F972BBF0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Tasks</a:t>
            </a:r>
          </a:p>
          <a:p>
            <a:pPr lvl="1"/>
            <a:r>
              <a:rPr lang="en-US" altLang="ko-KR"/>
              <a:t>Maintains the list of ingredients and transformation algorithm</a:t>
            </a:r>
          </a:p>
          <a:p>
            <a:pPr lvl="1"/>
            <a:r>
              <a:rPr lang="en-US" altLang="ko-KR"/>
              <a:t>Must know how to edit these data values</a:t>
            </a:r>
          </a:p>
          <a:p>
            <a:pPr lvl="1"/>
            <a:r>
              <a:rPr lang="en-US" altLang="ko-KR"/>
              <a:t>Must know how to interactively display itself on the output device</a:t>
            </a:r>
          </a:p>
          <a:p>
            <a:pPr lvl="1"/>
            <a:r>
              <a:rPr lang="en-US" altLang="ko-KR"/>
              <a:t>Must know how to print itself</a:t>
            </a:r>
          </a:p>
          <a:p>
            <a:pPr lvl="1"/>
            <a:r>
              <a:rPr lang="en-US" altLang="ko-KR"/>
              <a:t>etc</a:t>
            </a: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300B8440-9BF7-BDF6-8E05-D56274FD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Planner Component</a:t>
            </a:r>
            <a:endParaRPr lang="ko-KR" altLang="en-US" u="sng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7FE7EECE-F32F-BD44-F930-6E591552B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Permits the user to select a sequence of dates for planning</a:t>
            </a:r>
          </a:p>
          <a:p>
            <a:r>
              <a:rPr lang="en-US" altLang="ko-KR" sz="2800"/>
              <a:t>Permits the user to edit an existing plan</a:t>
            </a:r>
          </a:p>
          <a:p>
            <a:r>
              <a:rPr lang="en-US" altLang="ko-KR" sz="2800"/>
              <a:t>Associates with </a:t>
            </a:r>
            <a:r>
              <a:rPr lang="en-US" altLang="ko-KR" sz="2800" i="1"/>
              <a:t>Date</a:t>
            </a:r>
            <a:r>
              <a:rPr lang="en-US" altLang="ko-KR" sz="2800"/>
              <a:t> object</a:t>
            </a:r>
            <a:endParaRPr lang="ko-KR" alt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C8ED5DF0-D025-FE10-2372-7BCA0A6A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Date Component</a:t>
            </a:r>
            <a:endParaRPr lang="ko-KR" altLang="en-US" u="sng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FA1EC5BE-870D-3178-A9D5-8238DA7F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User can edit specific meals</a:t>
            </a:r>
          </a:p>
          <a:p>
            <a:r>
              <a:rPr lang="en-US" altLang="ko-KR"/>
              <a:t>User can annotate information about dates</a:t>
            </a:r>
          </a:p>
          <a:p>
            <a:pPr lvl="1"/>
            <a:r>
              <a:rPr lang="en-US" altLang="ko-KR"/>
              <a:t>''Bob's Birthday'', ``Christmas Dinner'', …</a:t>
            </a:r>
          </a:p>
          <a:p>
            <a:r>
              <a:rPr lang="en-US" altLang="ko-KR"/>
              <a:t>Can print out grocery list for entire set of meals</a:t>
            </a: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0258B36B-D094-6378-BE51-C12956E2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Meal Component</a:t>
            </a:r>
            <a:endParaRPr lang="ko-KR" altLang="en-US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C3FE01C2-E2CD-8EC3-26F1-E1956838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holds information about a single meal</a:t>
            </a:r>
          </a:p>
          <a:p>
            <a:pPr lvl="1"/>
            <a:r>
              <a:rPr lang="en-US" altLang="ko-KR" sz="2400"/>
              <a:t>Allows user to interact with the recipe database to select individual recipes for meals</a:t>
            </a:r>
          </a:p>
          <a:p>
            <a:pPr lvl="1"/>
            <a:r>
              <a:rPr lang="en-US" altLang="ko-KR" sz="2400"/>
              <a:t>User sets number of people to be present at meal, recipes are automatically scaled</a:t>
            </a:r>
          </a:p>
          <a:p>
            <a:pPr lvl="1"/>
            <a:r>
              <a:rPr lang="en-US" altLang="ko-KR" sz="2400"/>
              <a:t>Can produce grocery list for entire meal, by combining grocery lists from individual scaled recipes</a:t>
            </a:r>
            <a:endParaRPr lang="ko-KR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44957A63-F929-2505-86A0-CED9F4E7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Six Components</a:t>
            </a:r>
            <a:endParaRPr lang="ko-KR" altLang="en-US" u="sng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6CA2A0D6-F379-8125-8E11-CEC92E39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everything can be accomplished using only six software components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altLang="ko-KR" sz="2400"/>
              <a:t>You can at this point assign the different components to different programmers for development</a:t>
            </a:r>
            <a:endParaRPr lang="ko-KR" altLang="en-US" sz="2400"/>
          </a:p>
        </p:txBody>
      </p:sp>
      <p:pic>
        <p:nvPicPr>
          <p:cNvPr id="20484" name="Picture 2" descr="picture of the six components">
            <a:extLst>
              <a:ext uri="{FF2B5EF4-FFF2-40B4-BE49-F238E27FC236}">
                <a16:creationId xmlns:a16="http://schemas.microsoft.com/office/drawing/2014/main" id="{EE04E7FB-FA0A-83EF-D322-28FBD3DC9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2500313"/>
            <a:ext cx="519112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A0C463C0-5381-C104-485A-3FA64EB0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Characteristics of Components</a:t>
            </a:r>
            <a:endParaRPr lang="ko-KR" altLang="en-US" u="sng"/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A34F0573-FDC6-6F70-A605-BA97306B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Behavior and State </a:t>
            </a:r>
          </a:p>
          <a:p>
            <a:r>
              <a:rPr lang="en-US" altLang="ko-KR"/>
              <a:t>Instances and Classes </a:t>
            </a:r>
          </a:p>
          <a:p>
            <a:r>
              <a:rPr lang="en-US" altLang="ko-KR"/>
              <a:t>Coupling and Cohesion </a:t>
            </a:r>
          </a:p>
          <a:p>
            <a:r>
              <a:rPr lang="en-US" altLang="ko-KR"/>
              <a:t>Interface and Implementation </a:t>
            </a:r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C40EA286-C610-74FD-0172-B2A5B945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Behavior and State</a:t>
            </a:r>
            <a:endParaRPr lang="ko-KR" altLang="en-US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8F4A10BD-A489-3EE5-CEB7-91F4FAAA9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Behavior</a:t>
            </a:r>
          </a:p>
          <a:p>
            <a:pPr lvl="1"/>
            <a:r>
              <a:rPr lang="en-US" altLang="ko-KR"/>
              <a:t>the set of actions a component can perform</a:t>
            </a:r>
          </a:p>
          <a:p>
            <a:endParaRPr lang="en-US" altLang="ko-KR"/>
          </a:p>
          <a:p>
            <a:r>
              <a:rPr lang="en-US" altLang="ko-KR"/>
              <a:t>State</a:t>
            </a:r>
          </a:p>
          <a:p>
            <a:pPr lvl="1"/>
            <a:r>
              <a:rPr lang="en-US" altLang="ko-KR"/>
              <a:t>all the information (data values) held within a component</a:t>
            </a:r>
          </a:p>
          <a:p>
            <a:pPr lvl="1"/>
            <a:endParaRPr lang="en-US" altLang="ko-KR"/>
          </a:p>
          <a:p>
            <a:r>
              <a:rPr lang="en-US" altLang="ko-KR"/>
              <a:t>it is common for behavior to change state</a:t>
            </a:r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0FE7EB34-7916-5FD2-16AB-F6932E0E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Instances and Classes</a:t>
            </a:r>
            <a:endParaRPr lang="ko-KR" altLang="en-US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A4B61431-8725-83F7-C9E7-4F9A4A23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There are likely many </a:t>
            </a:r>
            <a:r>
              <a:rPr lang="en-US" altLang="ko-KR" i="1"/>
              <a:t>instances</a:t>
            </a:r>
            <a:r>
              <a:rPr lang="en-US" altLang="ko-KR"/>
              <a:t> of recipe, but they will all </a:t>
            </a:r>
            <a:r>
              <a:rPr lang="en-US" altLang="ko-KR" i="1"/>
              <a:t>behave</a:t>
            </a:r>
            <a:r>
              <a:rPr lang="en-US" altLang="ko-KR"/>
              <a:t> in the same way</a:t>
            </a:r>
          </a:p>
          <a:p>
            <a:r>
              <a:rPr lang="en-US" altLang="ko-KR"/>
              <a:t>We say the behavior is common to the class </a:t>
            </a:r>
            <a:r>
              <a:rPr lang="en-US" altLang="ko-KR" b="1"/>
              <a:t>Recipe</a:t>
            </a:r>
            <a:endParaRPr lang="ko-KR" altLang="en-US"/>
          </a:p>
        </p:txBody>
      </p:sp>
      <p:pic>
        <p:nvPicPr>
          <p:cNvPr id="23556" name="Picture 2" descr="picture of classes and instance">
            <a:extLst>
              <a:ext uri="{FF2B5EF4-FFF2-40B4-BE49-F238E27FC236}">
                <a16:creationId xmlns:a16="http://schemas.microsoft.com/office/drawing/2014/main" id="{B2843188-BA2A-16FA-2818-BCF40FE0B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500438"/>
            <a:ext cx="4019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823F4EA7-4F52-6A5B-1D57-BDA39BD9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Coupling and Cohesion</a:t>
            </a:r>
            <a:endParaRPr lang="ko-KR" altLang="en-US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AF0553E5-629C-2D10-B728-61117E4DB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Cohesion</a:t>
            </a:r>
          </a:p>
          <a:p>
            <a:pPr lvl="1"/>
            <a:r>
              <a:rPr lang="en-US" altLang="ko-KR"/>
              <a:t>the degree to which the tasks assigned to a component seem to form a meaningful unit. </a:t>
            </a:r>
          </a:p>
          <a:p>
            <a:pPr lvl="1"/>
            <a:r>
              <a:rPr lang="en-US" altLang="ko-KR"/>
              <a:t>Want to maximize cohesion</a:t>
            </a:r>
          </a:p>
          <a:p>
            <a:pPr lvl="1"/>
            <a:endParaRPr lang="en-US" altLang="ko-KR"/>
          </a:p>
          <a:p>
            <a:r>
              <a:rPr lang="en-US" altLang="ko-KR"/>
              <a:t>Coupling</a:t>
            </a:r>
          </a:p>
          <a:p>
            <a:pPr lvl="1"/>
            <a:r>
              <a:rPr lang="en-US" altLang="ko-KR"/>
              <a:t>the degree to which the ability to fulfill a certain responsibility depends upon the actions of another component</a:t>
            </a:r>
          </a:p>
          <a:p>
            <a:pPr lvl="1"/>
            <a:r>
              <a:rPr lang="en-US" altLang="ko-KR"/>
              <a:t>Want to minimize coupling</a:t>
            </a:r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13EC2165-13BD-8B3D-E9D2-8677F038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Interface and Implementation</a:t>
            </a:r>
            <a:endParaRPr lang="ko-KR" altLang="en-US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89DB6D26-9244-CA87-72FC-CF72AAE4B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We have characterized software components by what they can do</a:t>
            </a:r>
          </a:p>
          <a:p>
            <a:endParaRPr lang="en-US" altLang="ko-KR"/>
          </a:p>
          <a:p>
            <a:r>
              <a:rPr lang="en-US" altLang="ko-KR"/>
              <a:t>The user of a software component need only know what it does, not how it does it</a:t>
            </a:r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56784433-E3DF-1245-DD15-FFBA7A2E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Two views of a Software System</a:t>
            </a:r>
            <a:endParaRPr lang="ko-KR" altLang="en-US" u="sng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F0E072C2-90C8-C93F-8838-FB7A736AB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/>
              <a:t>information hiding</a:t>
            </a:r>
            <a:r>
              <a:rPr lang="en-US" altLang="ko-KR"/>
              <a:t> </a:t>
            </a:r>
          </a:p>
          <a:p>
            <a:pPr lvl="1"/>
            <a:r>
              <a:rPr lang="en-US" altLang="ko-KR"/>
              <a:t>purposeful hiding of implementation details </a:t>
            </a:r>
            <a:endParaRPr lang="ko-KR" altLang="en-US"/>
          </a:p>
        </p:txBody>
      </p:sp>
      <p:pic>
        <p:nvPicPr>
          <p:cNvPr id="26628" name="Picture 2" descr="two views of an edit buffer">
            <a:extLst>
              <a:ext uri="{FF2B5EF4-FFF2-40B4-BE49-F238E27FC236}">
                <a16:creationId xmlns:a16="http://schemas.microsoft.com/office/drawing/2014/main" id="{0AB39AFD-E979-A546-B0AA-258ECE8F6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857500"/>
            <a:ext cx="448627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8787428F-98C9-129A-8853-C497E5F3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Public and Private View</a:t>
            </a:r>
            <a:endParaRPr lang="ko-KR" altLang="en-US" u="sng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3BD438B8-3CF0-B35F-3121-9510B1492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Public view </a:t>
            </a:r>
          </a:p>
          <a:p>
            <a:pPr lvl="1"/>
            <a:r>
              <a:rPr lang="en-US" altLang="ko-KR"/>
              <a:t>those features (data or behavior) that other components can see and use </a:t>
            </a:r>
          </a:p>
          <a:p>
            <a:pPr lvl="1"/>
            <a:endParaRPr lang="en-US" altLang="ko-KR"/>
          </a:p>
          <a:p>
            <a:r>
              <a:rPr lang="en-US" altLang="ko-KR"/>
              <a:t>Private view</a:t>
            </a:r>
          </a:p>
          <a:p>
            <a:pPr lvl="1"/>
            <a:r>
              <a:rPr lang="en-US" altLang="ko-KR"/>
              <a:t>those features (data or behavior) that are used only within the component </a:t>
            </a:r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600F6348-6894-F047-95CE-27BFB5A9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5. Formalize the Interface</a:t>
            </a:r>
            <a:endParaRPr lang="ko-KR" altLang="en-US" sz="4000" u="sng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A9610636-2376-E513-BDA6-7D22FB24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formalize the channels of communication between the components</a:t>
            </a:r>
          </a:p>
          <a:p>
            <a:pPr lvl="1"/>
            <a:r>
              <a:rPr lang="en-US" altLang="ko-KR" sz="2000"/>
              <a:t>The general structure of each component is identified</a:t>
            </a:r>
          </a:p>
          <a:p>
            <a:pPr lvl="1"/>
            <a:r>
              <a:rPr lang="en-US" altLang="ko-KR" sz="2000"/>
              <a:t>Components with only one behavior may be made into functions</a:t>
            </a:r>
          </a:p>
          <a:p>
            <a:pPr lvl="1"/>
            <a:r>
              <a:rPr lang="en-US" altLang="ko-KR" sz="2000"/>
              <a:t>Components with many behaviors are probably more easily implemented as classes</a:t>
            </a:r>
          </a:p>
          <a:p>
            <a:pPr lvl="1"/>
            <a:r>
              <a:rPr lang="en-US" altLang="ko-KR" sz="2000"/>
              <a:t>Names are given to each of the responsibilities - these will eventually be mapped on to procedure names</a:t>
            </a:r>
          </a:p>
          <a:p>
            <a:pPr lvl="1"/>
            <a:r>
              <a:rPr lang="en-US" altLang="ko-KR" sz="2000"/>
              <a:t>Function parameters should be identified</a:t>
            </a:r>
          </a:p>
          <a:p>
            <a:pPr lvl="1"/>
            <a:r>
              <a:rPr lang="en-US" altLang="ko-KR" sz="2000"/>
              <a:t>Information is assigned to each component and accounted for</a:t>
            </a:r>
          </a:p>
          <a:p>
            <a:pPr lvl="1"/>
            <a:r>
              <a:rPr lang="en-US" altLang="ko-KR" sz="2000"/>
              <a:t>Scenarios are replayed in order to ensure all data is available</a:t>
            </a:r>
            <a:endParaRPr lang="ko-KR" altLang="en-US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544FB527-52F7-C9A0-BF48-FE63568B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The selection of names</a:t>
            </a:r>
            <a:endParaRPr lang="ko-KR" altLang="en-US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D2F4BED8-F9F9-6BFC-33AF-919AAC3A8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should be evocative in the context of the problem</a:t>
            </a:r>
          </a:p>
          <a:p>
            <a:r>
              <a:rPr lang="en-US" altLang="ko-KR" sz="2400"/>
              <a:t>should be short</a:t>
            </a:r>
          </a:p>
          <a:p>
            <a:r>
              <a:rPr lang="en-US" altLang="ko-KR" sz="2400"/>
              <a:t>should be pronounceable (read them out load)</a:t>
            </a:r>
          </a:p>
          <a:p>
            <a:r>
              <a:rPr lang="en-US" altLang="ko-KR" sz="2400"/>
              <a:t>Names should be consistent within the project</a:t>
            </a:r>
          </a:p>
          <a:p>
            <a:r>
              <a:rPr lang="en-US" altLang="ko-KR" sz="2400"/>
              <a:t>Avoid digits within a name</a:t>
            </a:r>
            <a:endParaRPr lang="ko-KR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5D06F980-AD63-1FD6-F6FB-BEA658BB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6. Design</a:t>
            </a:r>
            <a:endParaRPr lang="ko-KR" altLang="en-US" sz="3600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CA9156E4-623B-9236-70D1-EEECA9B2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ko-KR"/>
              <a:t>Transform description into SW layout</a:t>
            </a:r>
          </a:p>
          <a:p>
            <a:endParaRPr lang="en-US" altLang="ko-KR"/>
          </a:p>
          <a:p>
            <a:r>
              <a:rPr lang="en-US" altLang="ko-KR"/>
              <a:t>Design data structures in each component</a:t>
            </a:r>
          </a:p>
          <a:p>
            <a:endParaRPr lang="en-US" altLang="ko-KR"/>
          </a:p>
          <a:p>
            <a:r>
              <a:rPr lang="en-US" altLang="ko-KR"/>
              <a:t>Transform behavior description into algorithms.</a:t>
            </a:r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661C9306-A2C5-3845-A73A-B2871706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7. Implementing Components</a:t>
            </a:r>
            <a:endParaRPr lang="ko-KR" altLang="en-US" sz="3600" u="sng"/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3568B390-4D6D-6C96-3174-CCAC1E18B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/>
              <a:t>implement</a:t>
            </a:r>
            <a:r>
              <a:rPr lang="en-US" altLang="ko-KR" sz="2400"/>
              <a:t> the desired activities in </a:t>
            </a:r>
            <a:r>
              <a:rPr lang="en-US" altLang="ko-KR" sz="2400" b="1"/>
              <a:t>each component</a:t>
            </a:r>
          </a:p>
          <a:p>
            <a:endParaRPr lang="en-US" altLang="ko-KR" sz="2400"/>
          </a:p>
          <a:p>
            <a:r>
              <a:rPr lang="en-US" altLang="ko-KR" sz="2400" b="1"/>
              <a:t>Unit testing</a:t>
            </a:r>
            <a:r>
              <a:rPr lang="en-US" altLang="ko-KR" sz="2400"/>
              <a:t>: Subsystems are validated individually</a:t>
            </a:r>
          </a:p>
          <a:p>
            <a:pPr lvl="1"/>
            <a:r>
              <a:rPr lang="en-US" altLang="ko-KR" sz="2000"/>
              <a:t>Identify necessary conditions for correct functioning. </a:t>
            </a:r>
          </a:p>
          <a:p>
            <a:pPr lvl="1"/>
            <a:r>
              <a:rPr lang="en-US" altLang="ko-KR" sz="2000"/>
              <a:t>Test input values to verify that SW component will perform correctly when presented with legal input values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7A143A4C-8AC2-EED4-A195-40843BA88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8. Integration of Components</a:t>
            </a:r>
            <a:endParaRPr lang="ko-KR" altLang="en-US" u="sng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EEAF62EF-5B8C-F8D4-A9FA-D4EBC3F5B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Components are slowly integrated into completed system, using stubs as yet unimplemented parts.</a:t>
            </a:r>
          </a:p>
          <a:p>
            <a:endParaRPr lang="en-US" altLang="ko-KR" sz="2400"/>
          </a:p>
          <a:p>
            <a:r>
              <a:rPr lang="en-US" altLang="ko-KR" sz="2400"/>
              <a:t>Stubs</a:t>
            </a:r>
          </a:p>
          <a:p>
            <a:pPr lvl="1"/>
            <a:r>
              <a:rPr lang="en-US" altLang="ko-KR" sz="2000"/>
              <a:t>simple dummy routines with no behavior or with very limited behavior</a:t>
            </a:r>
          </a:p>
          <a:p>
            <a:endParaRPr lang="en-US" altLang="ko-KR" sz="2400"/>
          </a:p>
          <a:p>
            <a:r>
              <a:rPr lang="en-US" altLang="ko-KR" sz="2400"/>
              <a:t>Errors discovered during integration cause reinvestigation of validation techniques performed at the subsystem level. 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F2985FCA-8822-D2DA-FC2A-1831B60F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9. Maintenance and Evolution</a:t>
            </a:r>
            <a:endParaRPr lang="ko-KR" altLang="en-US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4888831A-9D87-184F-1FD7-D79B5CA12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r>
              <a:rPr lang="en-US" altLang="ko-KR" sz="2000"/>
              <a:t>Software Maintenance</a:t>
            </a:r>
          </a:p>
          <a:p>
            <a:pPr lvl="1"/>
            <a:r>
              <a:rPr lang="en-US" altLang="ko-KR" sz="1800"/>
              <a:t>Activities subsequent to the delivery of the initial working version of SW system</a:t>
            </a:r>
          </a:p>
          <a:p>
            <a:r>
              <a:rPr lang="en-US" altLang="ko-KR" sz="2000"/>
              <a:t>Software does not remain fixed after the first working version is released</a:t>
            </a:r>
          </a:p>
          <a:p>
            <a:pPr lvl="1"/>
            <a:r>
              <a:rPr lang="en-US" altLang="ko-KR" sz="1800"/>
              <a:t>Errors or bugs can be discovered. Must be corrected</a:t>
            </a:r>
          </a:p>
          <a:p>
            <a:pPr lvl="1"/>
            <a:r>
              <a:rPr lang="en-US" altLang="ko-KR" sz="1800"/>
              <a:t>Requirements may change. Say as a result of government regulations, or standardization among similar products</a:t>
            </a:r>
          </a:p>
          <a:p>
            <a:pPr lvl="1"/>
            <a:r>
              <a:rPr lang="en-US" altLang="ko-KR" sz="1800"/>
              <a:t>Hardware may change</a:t>
            </a:r>
          </a:p>
          <a:p>
            <a:pPr lvl="1"/>
            <a:r>
              <a:rPr lang="en-US" altLang="ko-KR" sz="1800"/>
              <a:t>Users expectations may change. Greater functionality, more features. Often as a result of competition from similar products</a:t>
            </a:r>
          </a:p>
          <a:p>
            <a:pPr lvl="1"/>
            <a:r>
              <a:rPr lang="en-US" altLang="ko-KR" sz="1800"/>
              <a:t>Better documentation may be required</a:t>
            </a:r>
          </a:p>
          <a:p>
            <a:r>
              <a:rPr lang="en-US" altLang="ko-KR" sz="2200"/>
              <a:t>Good Design</a:t>
            </a:r>
          </a:p>
          <a:p>
            <a:pPr lvl="1"/>
            <a:r>
              <a:rPr lang="en-US" altLang="ko-KR" sz="1800"/>
              <a:t>Recognizes the inevitability of changes and plans an accommodation for them from the very beginning</a:t>
            </a:r>
            <a:endParaRPr lang="ko-KR" altLang="en-US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15743324-E791-B51B-0093-4DBC0937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Prepare for Change!</a:t>
            </a:r>
            <a:endParaRPr lang="ko-KR" altLang="en-US" u="sng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5E31A840-BCA7-C591-18AE-EEC3EDF3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User requirements change with experience, hardware changes, government regulations change. </a:t>
            </a:r>
          </a:p>
          <a:p>
            <a:pPr lvl="1"/>
            <a:r>
              <a:rPr lang="en-US" altLang="ko-KR" sz="2000"/>
              <a:t>Try to predict the most likely sources of change, and isolate the effect. Common changes include interfaces, file formats, communication protocols</a:t>
            </a:r>
          </a:p>
          <a:p>
            <a:pPr lvl="1"/>
            <a:r>
              <a:rPr lang="en-US" altLang="ko-KR" sz="2000"/>
              <a:t>Isolate interfaces to hardware that is likely to change</a:t>
            </a:r>
          </a:p>
          <a:p>
            <a:pPr lvl="1"/>
            <a:r>
              <a:rPr lang="en-US" altLang="ko-KR" sz="2000"/>
              <a:t>Reduce dependency of one software component on another</a:t>
            </a:r>
          </a:p>
          <a:p>
            <a:pPr lvl="1"/>
            <a:r>
              <a:rPr lang="en-US" altLang="ko-KR" sz="2000"/>
              <a:t>Keep accurate record of the reasoning behind every major decision in the design documentation. </a:t>
            </a:r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4C8F57B9-2402-2E14-CF6D-CD17F707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Common Design Flaws</a:t>
            </a:r>
            <a:endParaRPr lang="ko-KR" altLang="en-US" u="sng"/>
          </a:p>
        </p:txBody>
      </p:sp>
      <p:sp>
        <p:nvSpPr>
          <p:cNvPr id="35843" name="내용 개체 틀 2">
            <a:extLst>
              <a:ext uri="{FF2B5EF4-FFF2-40B4-BE49-F238E27FC236}">
                <a16:creationId xmlns:a16="http://schemas.microsoft.com/office/drawing/2014/main" id="{EF26A6FF-D97C-7D69-6EB3-FB2B24C09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Direct modification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Components that make direct modification of data values in other components are a direct violation of encapsulation</a:t>
            </a:r>
          </a:p>
          <a:p>
            <a:r>
              <a:rPr lang="en-US" altLang="ko-KR" sz="2000" b="1"/>
              <a:t>Too Much Responsibility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Components with too much responsibility are difficult to understand and to use</a:t>
            </a:r>
          </a:p>
          <a:p>
            <a:r>
              <a:rPr lang="en-US" altLang="ko-KR" sz="2000" b="1"/>
              <a:t>No Responsibility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Components with no responsibility serve no purpose</a:t>
            </a:r>
          </a:p>
          <a:p>
            <a:r>
              <a:rPr lang="en-US" altLang="ko-KR" sz="2000" b="1"/>
              <a:t>Components with unused responsibility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Usually the result of designing software components without thinking about how they will be used</a:t>
            </a:r>
          </a:p>
          <a:p>
            <a:r>
              <a:rPr lang="en-US" altLang="ko-KR" sz="2000" b="1"/>
              <a:t>Misleading Names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1800"/>
              <a:t>Names should be short and unambiguously indicate what the responsibilities of the component involve</a:t>
            </a:r>
          </a:p>
          <a:p>
            <a:pPr lvl="1"/>
            <a:endParaRPr lang="ko-KR" altLang="en-US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보충 자료 (강의 페이지)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IIKH: Object Oriented Design (Tim Budd, Intro to OOP, Chapter 3)</a:t>
            </a:r>
          </a:p>
          <a:p>
            <a:pPr lvl="1"/>
            <a:r>
              <a:rPr sz="1400"/>
              <a:t>Project 1 참고 자료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(1/23)</a:t>
            </a:r>
          </a:p>
        </p:txBody>
      </p:sp>
      <p:pic>
        <p:nvPicPr>
          <p:cNvPr id="3" name="Picture 2" descr="chap03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96" y="822960"/>
            <a:ext cx="41634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(2/23)</a:t>
            </a:r>
          </a:p>
        </p:txBody>
      </p:sp>
      <p:pic>
        <p:nvPicPr>
          <p:cNvPr id="3" name="Picture 2" descr="chap03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(3/23)</a:t>
            </a:r>
          </a:p>
        </p:txBody>
      </p:sp>
      <p:pic>
        <p:nvPicPr>
          <p:cNvPr id="3" name="Picture 2" descr="chap03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09" y="822960"/>
            <a:ext cx="3660581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(4/23)</a:t>
            </a:r>
          </a:p>
        </p:txBody>
      </p:sp>
      <p:pic>
        <p:nvPicPr>
          <p:cNvPr id="3" name="Picture 2" descr="chap03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(5/23)</a:t>
            </a:r>
          </a:p>
        </p:txBody>
      </p:sp>
      <p:pic>
        <p:nvPicPr>
          <p:cNvPr id="3" name="Picture 2" descr="chap03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82" y="822960"/>
            <a:ext cx="365763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(6/23)</a:t>
            </a:r>
          </a:p>
        </p:txBody>
      </p:sp>
      <p:pic>
        <p:nvPicPr>
          <p:cNvPr id="3" name="Picture 2" descr="chap03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045" y="822960"/>
            <a:ext cx="4989909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(7/23)</a:t>
            </a:r>
          </a:p>
        </p:txBody>
      </p:sp>
      <p:pic>
        <p:nvPicPr>
          <p:cNvPr id="3" name="Picture 2" descr="chap03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098" y="822960"/>
            <a:ext cx="3661803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(8/23)</a:t>
            </a:r>
          </a:p>
        </p:txBody>
      </p:sp>
      <p:pic>
        <p:nvPicPr>
          <p:cNvPr id="3" name="Picture 2" descr="chap03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(9/23)</a:t>
            </a:r>
          </a:p>
        </p:txBody>
      </p:sp>
      <p:pic>
        <p:nvPicPr>
          <p:cNvPr id="3" name="Picture 2" descr="chap03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82" y="822960"/>
            <a:ext cx="365763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(10/23)</a:t>
            </a:r>
          </a:p>
        </p:txBody>
      </p:sp>
      <p:pic>
        <p:nvPicPr>
          <p:cNvPr id="3" name="Picture 2" descr="chap03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450" y="822960"/>
            <a:ext cx="3677099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(11/23)</a:t>
            </a:r>
          </a:p>
        </p:txBody>
      </p:sp>
      <p:pic>
        <p:nvPicPr>
          <p:cNvPr id="3" name="Picture 2" descr="chap03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17" y="822960"/>
            <a:ext cx="3652965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(12/23)</a:t>
            </a:r>
          </a:p>
        </p:txBody>
      </p:sp>
      <p:pic>
        <p:nvPicPr>
          <p:cNvPr id="3" name="Picture 2" descr="chap03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(13/23)</a:t>
            </a:r>
          </a:p>
        </p:txBody>
      </p:sp>
      <p:pic>
        <p:nvPicPr>
          <p:cNvPr id="3" name="Picture 2" descr="chap03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82" y="822960"/>
            <a:ext cx="365763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(14/23)</a:t>
            </a:r>
          </a:p>
        </p:txBody>
      </p:sp>
      <p:pic>
        <p:nvPicPr>
          <p:cNvPr id="3" name="Picture 2" descr="chap03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372" y="822960"/>
            <a:ext cx="366525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(15/23)</a:t>
            </a:r>
          </a:p>
        </p:txBody>
      </p:sp>
      <p:pic>
        <p:nvPicPr>
          <p:cNvPr id="3" name="Picture 2" descr="chap03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047" y="822960"/>
            <a:ext cx="365590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(16/23)</a:t>
            </a:r>
          </a:p>
        </p:txBody>
      </p:sp>
      <p:pic>
        <p:nvPicPr>
          <p:cNvPr id="3" name="Picture 2" descr="chap03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(17/23)</a:t>
            </a:r>
          </a:p>
        </p:txBody>
      </p:sp>
      <p:pic>
        <p:nvPicPr>
          <p:cNvPr id="3" name="Picture 2" descr="chap03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82" y="822960"/>
            <a:ext cx="365763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(18/23)</a:t>
            </a:r>
          </a:p>
        </p:txBody>
      </p:sp>
      <p:pic>
        <p:nvPicPr>
          <p:cNvPr id="3" name="Picture 2" descr="chap03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372" y="822960"/>
            <a:ext cx="366525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(19/23)</a:t>
            </a:r>
          </a:p>
        </p:txBody>
      </p:sp>
      <p:pic>
        <p:nvPicPr>
          <p:cNvPr id="3" name="Picture 2" descr="chap03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82" y="822960"/>
            <a:ext cx="3657636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(20/23)</a:t>
            </a:r>
          </a:p>
        </p:txBody>
      </p:sp>
      <p:pic>
        <p:nvPicPr>
          <p:cNvPr id="3" name="Picture 2" descr="chap03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(21/23)</a:t>
            </a:r>
          </a:p>
        </p:txBody>
      </p:sp>
      <p:pic>
        <p:nvPicPr>
          <p:cNvPr id="3" name="Picture 2" descr="chap03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17" y="822960"/>
            <a:ext cx="3652965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(22/23)</a:t>
            </a:r>
          </a:p>
        </p:txBody>
      </p:sp>
      <p:pic>
        <p:nvPicPr>
          <p:cNvPr id="3" name="Picture 2" descr="chap03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46" y="822960"/>
            <a:ext cx="366230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Budd Ch.3 Object-Oriented Design (23/23)</a:t>
            </a:r>
          </a:p>
        </p:txBody>
      </p:sp>
      <p:pic>
        <p:nvPicPr>
          <p:cNvPr id="3" name="Picture 2" descr="chap03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465" y="822960"/>
            <a:ext cx="3933069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1991</TotalTime>
  <Words>1563</Words>
  <Application>Microsoft Macintosh PowerPoint</Application>
  <PresentationFormat>화면 슬라이드 쇼(4:3)</PresentationFormat>
  <Paragraphs>215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굴림</vt:lpstr>
      <vt:lpstr>Arial</vt:lpstr>
      <vt:lpstr>Wingdings</vt:lpstr>
      <vt:lpstr>맑은 고딕</vt:lpstr>
      <vt:lpstr>Times New Roman</vt:lpstr>
      <vt:lpstr>네모의 미</vt:lpstr>
      <vt:lpstr>Lecture 3 : Object Oriented Design  (chapter 3. of Timothy Budd’s “Intro to OOP” book)</vt:lpstr>
      <vt:lpstr>OOP Technique Example : Responsibility Driven Design</vt:lpstr>
      <vt:lpstr>Design Process</vt:lpstr>
      <vt:lpstr>Development Process</vt:lpstr>
      <vt:lpstr>An Example, the IIKH IIKH(Intelligent Interactive Kitchen Helper)</vt:lpstr>
      <vt:lpstr>1.Initial Description</vt:lpstr>
      <vt:lpstr>2. Refine Specification (Working Through Scenarios)</vt:lpstr>
      <vt:lpstr>Scenario Example</vt:lpstr>
      <vt:lpstr>Abilities of the IIKH</vt:lpstr>
      <vt:lpstr>3. Identification of Components</vt:lpstr>
      <vt:lpstr>4. Identification of Components Responsibilities</vt:lpstr>
      <vt:lpstr>The first component, The Greeter</vt:lpstr>
      <vt:lpstr>The Recipe Database Component</vt:lpstr>
      <vt:lpstr>Responsibilities of a Recipe</vt:lpstr>
      <vt:lpstr>The Planner Component</vt:lpstr>
      <vt:lpstr>The Date Component</vt:lpstr>
      <vt:lpstr>The Meal Component</vt:lpstr>
      <vt:lpstr>The Six Components</vt:lpstr>
      <vt:lpstr>Characteristics of Components</vt:lpstr>
      <vt:lpstr>Behavior and State</vt:lpstr>
      <vt:lpstr>Instances and Classes</vt:lpstr>
      <vt:lpstr>Coupling and Cohesion</vt:lpstr>
      <vt:lpstr>Interface and Implementation</vt:lpstr>
      <vt:lpstr>Two views of a Software System</vt:lpstr>
      <vt:lpstr>Public and Private View</vt:lpstr>
      <vt:lpstr>5. Formalize the Interface</vt:lpstr>
      <vt:lpstr>The selection of names</vt:lpstr>
      <vt:lpstr>6. Design</vt:lpstr>
      <vt:lpstr>7. Implementing Components</vt:lpstr>
      <vt:lpstr>8. Integration of Components</vt:lpstr>
      <vt:lpstr>9. Maintenance and Evolution</vt:lpstr>
      <vt:lpstr>Prepare for Change!</vt:lpstr>
      <vt:lpstr>Common Design Flaws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185</cp:revision>
  <dcterms:created xsi:type="dcterms:W3CDTF">2008-03-06T00:32:01Z</dcterms:created>
  <dcterms:modified xsi:type="dcterms:W3CDTF">2026-09-22T06:54:22Z</dcterms:modified>
</cp:coreProperties>
</file>