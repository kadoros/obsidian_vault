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8" r:id="rId13"/>
  </p:sldIdLst>
  <p:sldSz cx="9144000" cy="6858000" type="screen4x3"/>
  <p:notesSz cx="7099300" cy="102346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58"/>
  </p:normalViewPr>
  <p:slideViewPr>
    <p:cSldViewPr>
      <p:cViewPr varScale="1">
        <p:scale>
          <a:sx n="120" d="100"/>
          <a:sy n="120" d="100"/>
        </p:scale>
        <p:origin x="19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C0FD0E-C329-79FD-FEE4-9E8D0AA0EC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1C68B96-EC56-9BE9-5BDD-F5AAD1CA9D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F3C00037-B6DD-2340-BE7F-E3861F45C63B}" type="datetimeFigureOut">
              <a:rPr lang="ko-KR" altLang="en-US"/>
              <a:pPr>
                <a:defRPr/>
              </a:pPr>
              <a:t>2026. 9. 1.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DEC02FB-5C93-7987-F2D1-84DB7E7CB01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3E4D49-DC04-8FAE-FAB0-93C703067C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EC0329-40E5-3A41-BE67-AC63C3DAD0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BEFB182-A5F3-F339-90D2-EF7C2FF4A3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01BEF4-CC73-7F95-60C7-207A9B13DE0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937370A2-D0A9-EF45-A633-0C85F7AB112F}" type="datetimeFigureOut">
              <a:rPr lang="ko-KR" altLang="en-US"/>
              <a:pPr>
                <a:defRPr/>
              </a:pPr>
              <a:t>2026. 9. 1.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DF5C80E-EEF9-D8E4-8F89-ED3987CD9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F26F16C0-9434-C171-58CC-20B835751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049BB4-718C-A1CA-4921-BD68882D8F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panose="020B0600000101010101" pitchFamily="34" charset="-127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9D6790-BE82-0AF9-956C-39A55B3D6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645D81-FE07-C045-963A-236856AEDAF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5EF416-E07C-0ABC-8244-C9210441127A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A3B23F05-85D5-5245-2DC1-F3702F01B1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1288890-BE50-7D96-5268-FA27A76B7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975D30B0-A654-293D-56FE-9D57867AF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896E306-1A66-CB3F-A339-57499AD94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8B5D217-661A-BDBA-2A52-239A97C19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FEB4F35B-62C0-3623-A1F4-B4B6A4B6E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87EC17F-7CE9-510E-8366-69D08B99F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C1FA22B3-FE2A-1FFF-37C5-3348DFEB2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3BBD0A96-FF5F-9B66-67C6-3C8AAC78D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F209471F-B692-DB98-1468-67F413D56608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2CA6E3B8-0F64-AC4E-F6ED-E029976DC7B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ko-KR" altLang="ko-KR" sz="2400">
                <a:ea typeface="+mn-ea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2EB1BC9C-D2EF-7B99-E0C1-4AA3560229D9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BC1DDA40-0329-FE1D-2F39-2933A3FAF8D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91806ECA-1344-B8AC-6B38-BCA8471C752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154F499F-062B-3310-17BD-3001EFD0A96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25DE3EE3-7812-D870-45DD-DC975784DD1A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BD42B48-FE84-9DC7-BB9C-582FCC8333A7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7E3A2282-7AE2-B24A-0F76-80FDCE1435F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676EE507-1A34-CF89-DC90-6992D34A054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F9CFE511-C2A0-4CC0-7E37-93370BB5B24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E1AB322-905A-E09F-0DFC-440387761CE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81F74F45-7DE6-97F9-B7CB-AAD89C606B9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7CCF101F-8FD7-44CA-A3B5-3FF8B82B35F6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258978F4-D8B0-DC1A-2472-DAE6CF533B8B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78AB1585-2D3F-6F39-18A4-341909D7905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5C6CD433-9385-562E-D017-536D2BA4CF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24CE69E9-5A54-FA8C-A13B-C966100FE4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545E9-1AC3-4441-AD89-460E31B8AC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02545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979C73F1-B3B0-BC3C-42F2-6B38FEB5DE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8F2C0791-45A7-55DB-1E5C-FAB73394AD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DE323B10-3EF1-496B-7C44-61379ED177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45382-DAC5-3743-AEB3-F704657C5B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8598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2E7E34A9-588E-4CBC-289C-FE1BC6BA5B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A4E94AB-3028-2B25-270E-385C7E0C9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B8CB77D5-3E2F-2655-FA42-150E7C3F64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4899F-3879-5243-88B5-3AAF7AF772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491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0A2D1B1D-7DD1-A157-E233-A0637E8F32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61A06526-C5E7-2F61-FA46-26AA7491E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27805BBE-431C-E008-88B2-A161FC4542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32746-C3C5-874C-891F-BAA1824A70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55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AA1F7C2D-84CC-0680-3B66-7180479874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3D10DEC8-E1FE-B851-3DCD-749060EEEC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59B67D14-C828-87E9-3BF0-8127D1AB4A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B52A41-A6A9-CC48-B194-92796C9C9B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917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877F044A-E79C-916E-17C3-46F5FC831A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C3A55A3F-D8E9-BACF-BF4E-656AE0AAE6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365E6F7D-E929-D743-4C8A-4DB2D93EF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90E78F-7DEF-D648-873E-FD995CD1AB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6839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836B437-4AD3-5E3C-EA65-1006CAE68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3777612D-4BD8-B325-298C-E7A871FAF7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F6729D9B-FFA6-547E-90F1-6FBD52596C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1F4E47-8292-A847-8E93-7D4628505F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64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3FD86C5-D408-75C5-15A3-57F13D6347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A7F7762D-BA8D-E21D-2DF7-FA4E0FE248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815296AB-AD3A-1101-9F31-7A663A5D60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F25E1-0BC9-F04C-AD15-8CB98AD6FF7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95088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192D4B6D-A647-1E17-7096-4B1D5A278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02150D78-F3D9-9651-894B-F4303B98B7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A90708C3-14C4-8D3B-9B64-CBFE34E782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EDBE5-6141-AA41-8D97-E266290F0E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61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D065B0AC-A95C-A5E4-3673-DE8D992D3F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EB323201-5F4E-EAED-E058-108ACC9040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AC25333E-0AA5-32BB-CCB7-D6F25A6201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AB9D61-AFEF-1A43-93BC-4A0BDC8F32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0103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1FE6CD9E-4789-F042-1BBD-D3190B0669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5820240C-5449-592E-6E22-0C9054E3A8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2BB3295B-2C33-6217-5B22-5FA3432FEF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74FCB-06E5-1D48-9049-6EACBD25DF4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537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6E383F21-3E9B-02B9-3945-BBF267642D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B45F9060-9FDD-5645-96C0-C2C08D740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DBB1F295-6C06-EF53-C0AE-61E0DA6124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7B0B2C-D74F-E146-ACA7-116E49A063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64458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E3BA3839-1E2D-D1AA-0EF8-DB2598DFD4FB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13552668-A333-A172-EE11-3E03E2DCE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3" name="Rectangle 4">
              <a:extLst>
                <a:ext uri="{FF2B5EF4-FFF2-40B4-BE49-F238E27FC236}">
                  <a16:creationId xmlns:a16="http://schemas.microsoft.com/office/drawing/2014/main" id="{ABBD7AEE-EB31-3D45-8DF8-077739320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D759C9FD-5926-8164-E306-F3B12B7FB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5805EEBC-CF89-A477-6055-D020CFC08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6" name="Rectangle 7">
              <a:extLst>
                <a:ext uri="{FF2B5EF4-FFF2-40B4-BE49-F238E27FC236}">
                  <a16:creationId xmlns:a16="http://schemas.microsoft.com/office/drawing/2014/main" id="{9DC4455A-0E61-91A7-83B9-63CE8BCCB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7" name="Rectangle 8">
              <a:extLst>
                <a:ext uri="{FF2B5EF4-FFF2-40B4-BE49-F238E27FC236}">
                  <a16:creationId xmlns:a16="http://schemas.microsoft.com/office/drawing/2014/main" id="{26FB68B4-5C8D-63BF-0B97-209CE7FF63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427EEE55-A655-85CC-A2FC-A65B9D624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39" name="Rectangle 10">
              <a:extLst>
                <a:ext uri="{FF2B5EF4-FFF2-40B4-BE49-F238E27FC236}">
                  <a16:creationId xmlns:a16="http://schemas.microsoft.com/office/drawing/2014/main" id="{906C2342-7F5D-2FE6-816E-CF9968E28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76C22582-C6BF-1411-0063-7A71D42BD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1" name="Rectangle 12">
              <a:extLst>
                <a:ext uri="{FF2B5EF4-FFF2-40B4-BE49-F238E27FC236}">
                  <a16:creationId xmlns:a16="http://schemas.microsoft.com/office/drawing/2014/main" id="{A60C609E-B7DC-344F-E82F-288EAEFFAC9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2" name="Rectangle 13">
              <a:extLst>
                <a:ext uri="{FF2B5EF4-FFF2-40B4-BE49-F238E27FC236}">
                  <a16:creationId xmlns:a16="http://schemas.microsoft.com/office/drawing/2014/main" id="{A00086AB-7F3D-4067-A185-120060DE2699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34" charset="-127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0" lang="ko-KR" altLang="ko-KR" sz="2400">
                <a:latin typeface="Arial" panose="020B0604020202020204" pitchFamily="34" charset="0"/>
                <a:ea typeface="+mn-ea"/>
              </a:endParaRPr>
            </a:p>
          </p:txBody>
        </p:sp>
        <p:sp>
          <p:nvSpPr>
            <p:cNvPr id="1043" name="Line 14">
              <a:extLst>
                <a:ext uri="{FF2B5EF4-FFF2-40B4-BE49-F238E27FC236}">
                  <a16:creationId xmlns:a16="http://schemas.microsoft.com/office/drawing/2014/main" id="{7A00BD93-45A3-7E4B-E470-8997601BB2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4" name="Line 15">
              <a:extLst>
                <a:ext uri="{FF2B5EF4-FFF2-40B4-BE49-F238E27FC236}">
                  <a16:creationId xmlns:a16="http://schemas.microsoft.com/office/drawing/2014/main" id="{E185EBF1-7E03-4AE0-5793-BF29C060A15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5" name="Line 16">
              <a:extLst>
                <a:ext uri="{FF2B5EF4-FFF2-40B4-BE49-F238E27FC236}">
                  <a16:creationId xmlns:a16="http://schemas.microsoft.com/office/drawing/2014/main" id="{52AFF8CE-C537-ACEF-B04F-0FECBDA76F3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6" name="Line 17">
              <a:extLst>
                <a:ext uri="{FF2B5EF4-FFF2-40B4-BE49-F238E27FC236}">
                  <a16:creationId xmlns:a16="http://schemas.microsoft.com/office/drawing/2014/main" id="{FC9832BA-E07D-05A2-F87C-66AE8C2968F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7" name="Line 18">
              <a:extLst>
                <a:ext uri="{FF2B5EF4-FFF2-40B4-BE49-F238E27FC236}">
                  <a16:creationId xmlns:a16="http://schemas.microsoft.com/office/drawing/2014/main" id="{6AD9DB18-0D5B-103F-6955-7956C08192C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8" name="Line 19">
              <a:extLst>
                <a:ext uri="{FF2B5EF4-FFF2-40B4-BE49-F238E27FC236}">
                  <a16:creationId xmlns:a16="http://schemas.microsoft.com/office/drawing/2014/main" id="{ABC114E6-B7B7-C5AC-47DC-102FC997591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49" name="Line 20">
              <a:extLst>
                <a:ext uri="{FF2B5EF4-FFF2-40B4-BE49-F238E27FC236}">
                  <a16:creationId xmlns:a16="http://schemas.microsoft.com/office/drawing/2014/main" id="{77A7B46E-49B9-9608-7B90-AD84F47AA40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0" name="Line 21">
              <a:extLst>
                <a:ext uri="{FF2B5EF4-FFF2-40B4-BE49-F238E27FC236}">
                  <a16:creationId xmlns:a16="http://schemas.microsoft.com/office/drawing/2014/main" id="{B3F50156-C3FE-FBC8-B418-3E0B86F6286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1" name="Line 22">
              <a:extLst>
                <a:ext uri="{FF2B5EF4-FFF2-40B4-BE49-F238E27FC236}">
                  <a16:creationId xmlns:a16="http://schemas.microsoft.com/office/drawing/2014/main" id="{5BCCA1CE-5AB6-52D4-87DA-3F3616764D79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2" name="Line 23">
              <a:extLst>
                <a:ext uri="{FF2B5EF4-FFF2-40B4-BE49-F238E27FC236}">
                  <a16:creationId xmlns:a16="http://schemas.microsoft.com/office/drawing/2014/main" id="{88007128-8819-BE66-456D-679B10B478A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3" name="Line 24">
              <a:extLst>
                <a:ext uri="{FF2B5EF4-FFF2-40B4-BE49-F238E27FC236}">
                  <a16:creationId xmlns:a16="http://schemas.microsoft.com/office/drawing/2014/main" id="{641E7B5D-6739-6ADA-9D4A-CA0AAF0B2B6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4" name="Line 25">
              <a:extLst>
                <a:ext uri="{FF2B5EF4-FFF2-40B4-BE49-F238E27FC236}">
                  <a16:creationId xmlns:a16="http://schemas.microsoft.com/office/drawing/2014/main" id="{17E67382-D99E-C62B-806E-327C0010E46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1055" name="Line 26">
              <a:extLst>
                <a:ext uri="{FF2B5EF4-FFF2-40B4-BE49-F238E27FC236}">
                  <a16:creationId xmlns:a16="http://schemas.microsoft.com/office/drawing/2014/main" id="{4D348F1D-482C-371D-0469-A08A071C4282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63179A13-31BB-A990-12FD-34AD5A985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E4B74B38-EDEF-05A6-7A30-D22FDCFEFC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A054C963-0BF4-0088-9A9C-74DDE5ED1C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A3484D99-C43D-0A90-B7FA-B1D5BB3F133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ea typeface="+mn-ea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8F4D0D4E-8922-DBA1-7A96-5579921B806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/>
            </a:lvl1pPr>
          </a:lstStyle>
          <a:p>
            <a:pPr>
              <a:defRPr/>
            </a:pPr>
            <a:fld id="{1B20476A-499B-594B-9FD4-7D50A1CBA5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72" r:id="rId2"/>
    <p:sldLayoutId id="2147484073" r:id="rId3"/>
    <p:sldLayoutId id="2147484074" r:id="rId4"/>
    <p:sldLayoutId id="2147484075" r:id="rId5"/>
    <p:sldLayoutId id="2147484076" r:id="rId6"/>
    <p:sldLayoutId id="2147484077" r:id="rId7"/>
    <p:sldLayoutId id="2147484078" r:id="rId8"/>
    <p:sldLayoutId id="2147484079" r:id="rId9"/>
    <p:sldLayoutId id="2147484080" r:id="rId10"/>
    <p:sldLayoutId id="2147484081" r:id="rId11"/>
    <p:sldLayoutId id="2147484082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719C8B04-21E3-67FB-39BF-7E1610B4E5A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sz="2800" b="1"/>
              <a:t>Object Oriented Programming (OOP)</a:t>
            </a:r>
            <a:br>
              <a:rPr lang="en-US" altLang="ko-KR" sz="3600" b="1"/>
            </a:br>
            <a:r>
              <a:rPr lang="en-US" altLang="ko-KR" sz="2000" b="1"/>
              <a:t>Lecture 1 : Course Overview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F18C094D-9610-C5D7-2949-3D7FD4A1095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b="1"/>
              <a:t>Bong-Soo Sohn</a:t>
            </a:r>
          </a:p>
          <a:p>
            <a:pPr eaLnBrk="1" hangingPunct="1">
              <a:lnSpc>
                <a:spcPct val="80000"/>
              </a:lnSpc>
            </a:pPr>
            <a:endParaRPr lang="en-US" altLang="ko-KR" sz="2000" b="1"/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Associate Professor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School of Computer Science and Engineering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ko-KR" sz="2000" b="1"/>
              <a:t>Chung-Ang University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B787033E-2B39-E081-EDE2-A09326DC9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Course Overview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0A2395D-6451-D5D0-04F4-2BBC38C9E9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ko-KR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Course Topics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b="1" u="sng" dirty="0">
                <a:solidFill>
                  <a:srgbClr val="FF0000"/>
                </a:solidFill>
              </a:rPr>
              <a:t>OOP Concepts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Data Abstraction/Encapsulation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Inheritance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Polymorphism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Generic Programming and STL (Standard Template Library)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Advanced C++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b="1" u="sng" dirty="0">
                <a:solidFill>
                  <a:srgbClr val="FF0000"/>
                </a:solidFill>
              </a:rPr>
              <a:t>UML</a:t>
            </a:r>
            <a:r>
              <a:rPr lang="en-US" altLang="ko-KR" sz="2000" dirty="0"/>
              <a:t> (Unified Modeling Language)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Modeling Object-Oriented Software Systems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0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Course Objectives</a:t>
            </a:r>
            <a:endParaRPr lang="en-US" altLang="ko-KR" sz="20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Understand OOP concepts and </a:t>
            </a:r>
            <a:r>
              <a:rPr lang="en-US" altLang="ko-KR" sz="2000" b="1" u="sng" dirty="0">
                <a:solidFill>
                  <a:srgbClr val="FF0000"/>
                </a:solidFill>
              </a:rPr>
              <a:t>apply it to real programming</a:t>
            </a:r>
            <a:endParaRPr lang="en-US" altLang="ko-KR" sz="1700" b="1" u="sng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Improve the ability of using </a:t>
            </a:r>
            <a:r>
              <a:rPr lang="en-US" altLang="ko-KR" sz="2000" b="1" u="sng" dirty="0">
                <a:solidFill>
                  <a:srgbClr val="FF0000"/>
                </a:solidFill>
              </a:rPr>
              <a:t>advanced OOP features of C++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000" dirty="0"/>
              <a:t>Conduct </a:t>
            </a:r>
            <a:r>
              <a:rPr lang="en-US" altLang="ko-KR" sz="2000" b="1" u="sng" dirty="0">
                <a:solidFill>
                  <a:srgbClr val="FF0000"/>
                </a:solidFill>
              </a:rPr>
              <a:t>Team Projects </a:t>
            </a:r>
            <a:r>
              <a:rPr lang="en-US" altLang="ko-KR" sz="2000" dirty="0"/>
              <a:t>(Large Software Development)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700" dirty="0"/>
              <a:t>Design/Implementation/Documentation</a:t>
            </a:r>
            <a:endParaRPr lang="en-US" altLang="ko-KR" sz="2400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E5B603A-6329-E83B-43FF-6B5F50805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Course Format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38CE1F1D-66C4-3B5C-B703-5481806EC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ko-KR" sz="28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ko-KR" sz="2800" b="1" dirty="0"/>
              <a:t>This course consists of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Lectures (in a classroom on campus)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Programming Projects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altLang="ko-KR" sz="1800" b="1" dirty="0"/>
              <a:t>2 individual projects + 2 team-based projects</a:t>
            </a:r>
            <a:endParaRPr lang="en-US" altLang="ko-KR" sz="2400" b="1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ko-KR" sz="2400" b="1" dirty="0"/>
              <a:t>Presentation (in the case of team projects) 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400" b="1" dirty="0"/>
          </a:p>
          <a:p>
            <a:pPr lvl="1" eaLnBrk="1" hangingPunct="1">
              <a:lnSpc>
                <a:spcPct val="80000"/>
              </a:lnSpc>
              <a:defRPr/>
            </a:pPr>
            <a:endParaRPr lang="en-US" altLang="ko-KR" sz="2400" b="1" dirty="0"/>
          </a:p>
          <a:p>
            <a:pPr eaLnBrk="1" hangingPunct="1">
              <a:lnSpc>
                <a:spcPct val="80000"/>
              </a:lnSpc>
              <a:defRPr/>
            </a:pPr>
            <a:endParaRPr lang="en-US" altLang="ko-KR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5539857-19E3-E0EF-A0F4-535060388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Reference Books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39656EF7-0890-32F8-4C5C-4D455F616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0335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ko-KR" sz="2000" dirty="0"/>
              <a:t>No Required Textbook.</a:t>
            </a:r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lang="en-US" altLang="ko-KR" sz="2000" dirty="0"/>
              <a:t>Reference Books</a:t>
            </a:r>
          </a:p>
          <a:p>
            <a:pPr lvl="1" eaLnBrk="1" hangingPunct="1"/>
            <a:r>
              <a:rPr lang="en-US" altLang="ko-KR" sz="1800" i="1" dirty="0"/>
              <a:t>“An Intro. To Object Oriented Programming” , T. A. Budd</a:t>
            </a:r>
          </a:p>
          <a:p>
            <a:pPr lvl="1" eaLnBrk="1" hangingPunct="1"/>
            <a:endParaRPr lang="en-US" altLang="ko-KR" sz="1800" i="1" dirty="0"/>
          </a:p>
          <a:p>
            <a:pPr lvl="1" eaLnBrk="1" hangingPunct="1"/>
            <a:r>
              <a:rPr lang="en-US" altLang="ko-KR" sz="1800" i="1" dirty="0"/>
              <a:t>“Thinking in C++, Volume One/Two: Introduction to Standard C++(2</a:t>
            </a:r>
            <a:r>
              <a:rPr lang="en-US" altLang="ko-KR" sz="1800" i="1" baseline="30000" dirty="0"/>
              <a:t>nd</a:t>
            </a:r>
            <a:r>
              <a:rPr lang="en-US" altLang="ko-KR" sz="1800" i="1" dirty="0"/>
              <a:t> Edition)”, Bruce Eckel, Prentice Hall, 2000/2004</a:t>
            </a:r>
          </a:p>
          <a:p>
            <a:pPr lvl="1" eaLnBrk="1" hangingPunct="1"/>
            <a:r>
              <a:rPr lang="en-US" altLang="ko-KR" sz="1800" dirty="0"/>
              <a:t>Full text of “Thinking in C++” is available as pdf files </a:t>
            </a:r>
          </a:p>
          <a:p>
            <a:pPr lvl="2" eaLnBrk="1" hangingPunct="1"/>
            <a:r>
              <a:rPr lang="en-US" altLang="ko-KR" sz="1600" dirty="0"/>
              <a:t>http://</a:t>
            </a:r>
            <a:r>
              <a:rPr lang="en-US" altLang="ko-KR" sz="1600" dirty="0" err="1"/>
              <a:t>www.cs.ust.hk</a:t>
            </a:r>
            <a:r>
              <a:rPr lang="en-US" altLang="ko-KR" sz="1600" dirty="0"/>
              <a:t>/~</a:t>
            </a:r>
            <a:r>
              <a:rPr lang="en-US" altLang="ko-KR" sz="1600" dirty="0" err="1"/>
              <a:t>dekai</a:t>
            </a:r>
            <a:r>
              <a:rPr lang="en-US" altLang="ko-KR" sz="1600" dirty="0"/>
              <a:t>/library/</a:t>
            </a:r>
            <a:r>
              <a:rPr lang="en-US" altLang="ko-KR" sz="1600" dirty="0" err="1"/>
              <a:t>ECKEL_Bruce</a:t>
            </a:r>
            <a:endParaRPr lang="en-US" altLang="ko-KR" sz="1600" dirty="0"/>
          </a:p>
          <a:p>
            <a:pPr lvl="1" eaLnBrk="1" hangingPunct="1"/>
            <a:r>
              <a:rPr lang="en-US" altLang="ko-KR" sz="2000" i="1" dirty="0"/>
              <a:t>“C++ : Effective Object-Oriented Software Construction : Concepts, Practices, Industrial Strategies and Practices”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Kayshav</a:t>
            </a:r>
            <a:r>
              <a:rPr lang="en-US" altLang="ko-KR" sz="2000" dirty="0"/>
              <a:t> Dattari, 2</a:t>
            </a:r>
            <a:r>
              <a:rPr lang="en-US" altLang="ko-KR" sz="2000" baseline="30000" dirty="0"/>
              <a:t>nd</a:t>
            </a:r>
            <a:r>
              <a:rPr lang="en-US" altLang="ko-KR" sz="2000" dirty="0"/>
              <a:t> Edition, 1999 (Page 1 ~ Page 574)</a:t>
            </a:r>
          </a:p>
          <a:p>
            <a:pPr lvl="1" eaLnBrk="1" hangingPunct="1"/>
            <a:endParaRPr lang="en-US" altLang="ko-KR" sz="1900" dirty="0"/>
          </a:p>
          <a:p>
            <a:pPr eaLnBrk="1" hangingPunct="1"/>
            <a:r>
              <a:rPr lang="en-US" altLang="ko-KR" sz="2000" dirty="0"/>
              <a:t>Some of online materials will be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3631B00B-33C5-A108-3A83-179930B3D3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Evaluation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08C00D3D-1EF9-1597-7F44-A82684F2E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Midterm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Final Exam: 35%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Projects/Assignments: 25%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1700" dirty="0"/>
              <a:t>4 programming projects 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7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Attendance : 5%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You may get F grade if you miss </a:t>
            </a:r>
            <a:r>
              <a:rPr lang="en-US" altLang="ko-KR" sz="2100" dirty="0">
                <a:latin typeface="Arial" panose="020B0604020202020204" pitchFamily="34" charset="0"/>
              </a:rPr>
              <a:t>¼</a:t>
            </a:r>
            <a:r>
              <a:rPr lang="en-US" altLang="ko-KR" sz="2100" dirty="0"/>
              <a:t> or more of the whole classes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r>
              <a:rPr lang="en-US" altLang="ko-KR" sz="2100" dirty="0"/>
              <a:t>This evaluation policy may change depending on COVID-19 situation.</a:t>
            </a:r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  <a:p>
            <a:pPr eaLnBrk="1" hangingPunct="1">
              <a:lnSpc>
                <a:spcPct val="90000"/>
              </a:lnSpc>
            </a:pPr>
            <a:endParaRPr lang="en-US" altLang="ko-KR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AF23325E-E698-4161-63B9-1A440ED69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Instructor Information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8D8C5BDE-3329-09C4-FCA0-E3E78379C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000"/>
              <a:t>Name : Bong-Soo Sohn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Office</a:t>
            </a:r>
            <a:r>
              <a:rPr lang="ko-KR" altLang="en-US" sz="2000"/>
              <a:t> </a:t>
            </a:r>
            <a:r>
              <a:rPr lang="en-US" altLang="ko-KR" sz="2000"/>
              <a:t>: 310-738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Email : bongbong _at_ cau.ac.kr 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Tel : 820-5843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/>
          </a:p>
          <a:p>
            <a:pPr eaLnBrk="1" hangingPunct="1">
              <a:lnSpc>
                <a:spcPct val="90000"/>
              </a:lnSpc>
            </a:pPr>
            <a:r>
              <a:rPr lang="en-US" altLang="ko-KR" sz="2000"/>
              <a:t>Please feel free to contact me for any of class issues.</a:t>
            </a:r>
          </a:p>
          <a:p>
            <a:pPr lvl="1" eaLnBrk="1" hangingPunct="1">
              <a:lnSpc>
                <a:spcPct val="90000"/>
              </a:lnSpc>
            </a:pPr>
            <a:endParaRPr lang="en-US" altLang="ko-KR" sz="1600"/>
          </a:p>
          <a:p>
            <a:pPr lvl="1" eaLnBrk="1" hangingPunct="1">
              <a:lnSpc>
                <a:spcPct val="90000"/>
              </a:lnSpc>
            </a:pPr>
            <a:endParaRPr lang="en-US" altLang="ko-K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EF313CE-4B09-BD97-666E-0F95B76993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Announcement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B14626D7-E0AB-DEEA-7A8C-BB82B255E4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484313"/>
            <a:ext cx="8229600" cy="452596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Class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b="1" dirty="0">
                <a:solidFill>
                  <a:srgbClr val="FF0000"/>
                </a:solidFill>
              </a:rPr>
              <a:t>https://</a:t>
            </a:r>
            <a:r>
              <a:rPr lang="en-US" altLang="ko-KR" sz="2200" b="1" dirty="0" err="1">
                <a:solidFill>
                  <a:srgbClr val="FF0000"/>
                </a:solidFill>
              </a:rPr>
              <a:t>sohnbong.github.io</a:t>
            </a:r>
            <a:r>
              <a:rPr lang="en-US" altLang="ko-KR" sz="2200" b="1" dirty="0">
                <a:solidFill>
                  <a:srgbClr val="FF0000"/>
                </a:solidFill>
              </a:rPr>
              <a:t>/oop26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Class information such as lecture notes is accessible through this website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We will also use </a:t>
            </a:r>
            <a:r>
              <a:rPr lang="en-US" altLang="ko-KR" sz="2200" b="1" dirty="0">
                <a:solidFill>
                  <a:srgbClr val="FF0000"/>
                </a:solidFill>
              </a:rPr>
              <a:t>e-Class </a:t>
            </a:r>
            <a:r>
              <a:rPr lang="en-US" altLang="ko-KR" sz="2200" dirty="0"/>
              <a:t>for the submission of homework and project results.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  <a:p>
            <a:pPr eaLnBrk="1" hangingPunct="1">
              <a:lnSpc>
                <a:spcPct val="80000"/>
              </a:lnSpc>
            </a:pPr>
            <a:r>
              <a:rPr lang="en-US" altLang="ko-KR" sz="2600" b="1" dirty="0"/>
              <a:t>Individual Programming Assignments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I encourage you to study and discuss together for doing programming assignments.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However, you must do programming YOURSELF.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/>
              <a:t>You must not share any of source code with other students.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sz="2000" dirty="0"/>
              <a:t>Academic dishonesty (e.g. cheating, plagiarism, and etc.) is seriously prohibited. Heavy penalty may be imposed for that.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3B7C8D37-816A-DA05-FF16-2AD7528BC8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18469" name="Group 37">
            <a:extLst>
              <a:ext uri="{FF2B5EF4-FFF2-40B4-BE49-F238E27FC236}">
                <a16:creationId xmlns:a16="http://schemas.microsoft.com/office/drawing/2014/main" id="{B66119D3-E7E6-5D4C-8E63-61CB47BEEE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1246234"/>
              </p:ext>
            </p:extLst>
          </p:nvPr>
        </p:nvGraphicFramePr>
        <p:xfrm>
          <a:off x="1042988" y="1341438"/>
          <a:ext cx="7200900" cy="4452939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621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Course Overview, OOP Introduction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86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OOP Introduction, C++ Basics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C++ Basics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86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Object Oriented Design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 Encapsulation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Data Encapsulation, Inheritance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954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Polymorphism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19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Midterm exam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3BC76AE3-B3BF-6B0E-4DF3-E16AFB977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b="1" u="sng"/>
              <a:t>Schedule</a:t>
            </a:r>
          </a:p>
        </p:txBody>
      </p:sp>
      <p:graphicFrame>
        <p:nvGraphicFramePr>
          <p:cNvPr id="20512" name="Group 32">
            <a:extLst>
              <a:ext uri="{FF2B5EF4-FFF2-40B4-BE49-F238E27FC236}">
                <a16:creationId xmlns:a16="http://schemas.microsoft.com/office/drawing/2014/main" id="{C908031E-14B8-F45E-577E-55AAD11F5DF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75934818"/>
              </p:ext>
            </p:extLst>
          </p:nvPr>
        </p:nvGraphicFramePr>
        <p:xfrm>
          <a:off x="1042988" y="1306513"/>
          <a:ext cx="7200900" cy="4498977"/>
        </p:xfrm>
        <a:graphic>
          <a:graphicData uri="http://schemas.openxmlformats.org/drawingml/2006/table">
            <a:tbl>
              <a:tblPr/>
              <a:tblGrid>
                <a:gridCol w="64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6575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Polymorphism, Template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Template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STL (Standard Template Library)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STL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UML, Modern C++ features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Modern C++ features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Term Project 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738"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fontAlgn="t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kumimoji="1" sz="26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1pPr>
                      <a:lvl2pPr marL="742950" indent="-285750" eaLnBrk="0" fontAlgn="t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kumimoji="1" sz="22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2pPr>
                      <a:lvl3pPr marL="1143000" indent="-228600" eaLnBrk="0" fontAlgn="t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3pPr>
                      <a:lvl4pPr marL="16002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4pPr>
                      <a:lvl5pPr marL="2057400" indent="-228600" eaLnBrk="0" fontAlgn="t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5pPr>
                      <a:lvl6pPr marL="25146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6pPr>
                      <a:lvl7pPr marL="29718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7pPr>
                      <a:lvl8pPr marL="34290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8pPr>
                      <a:lvl9pPr marL="3886200" indent="-228600" eaLnBrk="0" fontAlgn="t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ko-KR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 Final Exam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제목 1">
            <a:extLst>
              <a:ext uri="{FF2B5EF4-FFF2-40B4-BE49-F238E27FC236}">
                <a16:creationId xmlns:a16="http://schemas.microsoft.com/office/drawing/2014/main" id="{CAADA8B8-210D-10CD-17EB-1005763F4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Remarks</a:t>
            </a:r>
            <a:endParaRPr lang="ko-KR" altLang="en-US" b="1" u="sng"/>
          </a:p>
        </p:txBody>
      </p:sp>
      <p:sp>
        <p:nvSpPr>
          <p:cNvPr id="24578" name="내용 개체 틀 2">
            <a:extLst>
              <a:ext uri="{FF2B5EF4-FFF2-40B4-BE49-F238E27FC236}">
                <a16:creationId xmlns:a16="http://schemas.microsoft.com/office/drawing/2014/main" id="{1F339416-13B8-A65B-3FA1-E7107B5200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400" dirty="0"/>
              <a:t>We will mainly use C++ in our lecture.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Project/Programming Based Course</a:t>
            </a:r>
          </a:p>
          <a:p>
            <a:pPr lvl="1">
              <a:defRPr/>
            </a:pPr>
            <a:r>
              <a:rPr lang="en-US" altLang="ko-KR" sz="1800" dirty="0"/>
              <a:t>Prerequisite: C/JAVA programming, Data Structures</a:t>
            </a:r>
          </a:p>
          <a:p>
            <a:pPr lvl="2">
              <a:defRPr/>
            </a:pPr>
            <a:r>
              <a:rPr lang="en-US" altLang="ko-KR" sz="1500" dirty="0"/>
              <a:t>This course assumes that students have basic knowledge of C and JAVA grammars and programming ability. Basic knowledge of data structures such as array and linked list are also required.</a:t>
            </a:r>
            <a:endParaRPr lang="en-US" altLang="ko-KR" sz="2400" dirty="0"/>
          </a:p>
          <a:p>
            <a:pPr lvl="1">
              <a:defRPr/>
            </a:pPr>
            <a:r>
              <a:rPr lang="en-US" altLang="ko-KR" sz="1800" dirty="0"/>
              <a:t>We will have significant amount of programming assignments including team projects and presentation. If your programming ability is not good enough, it may be difficult to follow the class.</a:t>
            </a: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en-US" altLang="ko-KR" sz="2400" dirty="0"/>
              <a:t>English Lecture + English Student Presentation</a:t>
            </a:r>
          </a:p>
          <a:p>
            <a:pPr>
              <a:defRPr/>
            </a:pPr>
            <a:r>
              <a:rPr lang="en-US" altLang="ko-KR" sz="2400" dirty="0"/>
              <a:t>You should use English for reports and exams.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400" dirty="0"/>
              <a:t>  </a:t>
            </a:r>
          </a:p>
          <a:p>
            <a:pPr>
              <a:defRPr/>
            </a:pPr>
            <a:endParaRPr lang="en-US" altLang="ko-KR" sz="2000" dirty="0"/>
          </a:p>
          <a:p>
            <a:pPr>
              <a:buFont typeface="Wingdings" pitchFamily="2" charset="2"/>
              <a:buNone/>
              <a:defRPr/>
            </a:pPr>
            <a:endParaRPr lang="en-US" altLang="ko-KR" sz="2000" dirty="0"/>
          </a:p>
          <a:p>
            <a:pPr>
              <a:buFont typeface="Wingdings" pitchFamily="2" charset="2"/>
              <a:buNone/>
              <a:defRPr/>
            </a:pPr>
            <a:endParaRPr lang="en-US" altLang="ko-KR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제목 1">
            <a:extLst>
              <a:ext uri="{FF2B5EF4-FFF2-40B4-BE49-F238E27FC236}">
                <a16:creationId xmlns:a16="http://schemas.microsoft.com/office/drawing/2014/main" id="{C6CDD165-98B2-247C-8D0B-D90C748956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Projects Plan</a:t>
            </a:r>
            <a:endParaRPr lang="ko-KR" altLang="en-US" b="1" u="sng"/>
          </a:p>
        </p:txBody>
      </p:sp>
      <p:sp>
        <p:nvSpPr>
          <p:cNvPr id="26626" name="내용 개체 틀 2">
            <a:extLst>
              <a:ext uri="{FF2B5EF4-FFF2-40B4-BE49-F238E27FC236}">
                <a16:creationId xmlns:a16="http://schemas.microsoft.com/office/drawing/2014/main" id="{AEA1396B-DC31-E8A0-126E-4401E1B7F6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14438"/>
            <a:ext cx="8291513" cy="4525962"/>
          </a:xfrm>
        </p:spPr>
        <p:txBody>
          <a:bodyPr/>
          <a:lstStyle/>
          <a:p>
            <a:pPr>
              <a:defRPr/>
            </a:pPr>
            <a:r>
              <a:rPr lang="en-US" altLang="ko-KR" sz="2000" dirty="0"/>
              <a:t>Make up a team </a:t>
            </a:r>
          </a:p>
          <a:p>
            <a:pPr lvl="1">
              <a:defRPr/>
            </a:pPr>
            <a:r>
              <a:rPr lang="en-US" altLang="ko-KR" sz="1800" dirty="0"/>
              <a:t>Deadline : 11:59pm on Sep. 10</a:t>
            </a:r>
            <a:r>
              <a:rPr lang="en-US" altLang="ko-KR" sz="1800" baseline="30000" dirty="0"/>
              <a:t> </a:t>
            </a:r>
            <a:endParaRPr lang="en-US" altLang="ko-KR" sz="1500" dirty="0"/>
          </a:p>
          <a:p>
            <a:pPr lvl="1">
              <a:defRPr/>
            </a:pPr>
            <a:r>
              <a:rPr lang="en-US" altLang="ko-KR" sz="1800" dirty="0"/>
              <a:t>Only the leader of each team needs to post an article (name/email/phone#/student-id# of team members, mark the team leader) in </a:t>
            </a:r>
            <a:r>
              <a:rPr lang="en-US" altLang="ko-KR" sz="1800" dirty="0" err="1"/>
              <a:t>eClass</a:t>
            </a:r>
            <a:r>
              <a:rPr lang="en-US" altLang="ko-KR" sz="1800" dirty="0"/>
              <a:t> (homework 0)</a:t>
            </a:r>
          </a:p>
          <a:p>
            <a:pPr lvl="1">
              <a:defRPr/>
            </a:pPr>
            <a:r>
              <a:rPr lang="en-US" altLang="ko-KR" sz="1800" dirty="0"/>
              <a:t>Expected Team Size : 4, 5, or 6 </a:t>
            </a:r>
          </a:p>
          <a:p>
            <a:pPr marL="457200" lvl="1" indent="0">
              <a:buFont typeface="Wingdings" pitchFamily="2" charset="2"/>
              <a:buNone/>
              <a:defRPr/>
            </a:pPr>
            <a:r>
              <a:rPr lang="en-US" altLang="ko-KR" sz="1800" dirty="0"/>
              <a:t>    (If you want, team size 1, 2, 3 or 7 will be also allowed.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sz="2000" dirty="0"/>
              <a:t>    </a:t>
            </a:r>
            <a:r>
              <a:rPr lang="en-US" altLang="ko-KR" sz="1800" dirty="0"/>
              <a:t>If your team size is large, I expect the quality of the team project 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altLang="ko-KR" sz="1800" dirty="0"/>
              <a:t>     result will be also high.)</a:t>
            </a:r>
            <a:r>
              <a:rPr lang="en-US" altLang="ko-KR" sz="2000" dirty="0"/>
              <a:t> </a:t>
            </a:r>
          </a:p>
          <a:p>
            <a:pPr>
              <a:defRPr/>
            </a:pPr>
            <a:r>
              <a:rPr lang="en-US" altLang="ko-KR" sz="2000" dirty="0"/>
              <a:t>There will be 4 programming projects during the semester.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2000" dirty="0"/>
              <a:t>    (2 projects will be done individually, the other 2 projects will be done in team.)</a:t>
            </a:r>
          </a:p>
          <a:p>
            <a:pPr>
              <a:defRPr/>
            </a:pPr>
            <a:r>
              <a:rPr lang="en-US" altLang="ko-KR" sz="2000" dirty="0"/>
              <a:t>Each team will present one of project 1 , 2 , and 3.</a:t>
            </a:r>
          </a:p>
          <a:p>
            <a:pPr>
              <a:defRPr/>
            </a:pPr>
            <a:r>
              <a:rPr lang="en-US" altLang="ko-KR" sz="2000" dirty="0"/>
              <a:t>All teams should conduct the final term (4</a:t>
            </a:r>
            <a:r>
              <a:rPr lang="en-US" altLang="ko-KR" sz="2000" baseline="30000" dirty="0"/>
              <a:t>th</a:t>
            </a:r>
            <a:r>
              <a:rPr lang="en-US" altLang="ko-KR" sz="2000" dirty="0"/>
              <a:t>) project and give presentation.</a:t>
            </a:r>
            <a:endParaRPr lang="ko-KR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제목 1">
            <a:extLst>
              <a:ext uri="{FF2B5EF4-FFF2-40B4-BE49-F238E27FC236}">
                <a16:creationId xmlns:a16="http://schemas.microsoft.com/office/drawing/2014/main" id="{C2BCF61C-DFC1-1FFF-6A6B-EA5EF2FF6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5013" y="274638"/>
            <a:ext cx="8229600" cy="1143000"/>
          </a:xfrm>
        </p:spPr>
        <p:txBody>
          <a:bodyPr/>
          <a:lstStyle/>
          <a:p>
            <a:r>
              <a:rPr lang="en-US" altLang="ko-KR" sz="3200" b="1" u="sng"/>
              <a:t>If you have difficulty in making a team..</a:t>
            </a:r>
            <a:endParaRPr lang="ko-KR" altLang="en-US" sz="3200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7CF9FD-25F4-78C2-F8E0-7EE5ADCD5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435975" cy="4525963"/>
          </a:xfrm>
        </p:spPr>
        <p:txBody>
          <a:bodyPr/>
          <a:lstStyle/>
          <a:p>
            <a:pPr>
              <a:defRPr/>
            </a:pPr>
            <a:r>
              <a:rPr lang="en-US" altLang="ko-Kore-KR" sz="2000" dirty="0"/>
              <a:t>team with a single member (team size = 1)  is also possible, if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ore-KR" sz="2000" dirty="0"/>
              <a:t>    you want. </a:t>
            </a:r>
          </a:p>
          <a:p>
            <a:pPr lvl="1">
              <a:defRPr/>
            </a:pPr>
            <a:r>
              <a:rPr lang="en-US" altLang="ko-Kore-KR" sz="2000" dirty="0"/>
              <a:t>In this case, you also need to post an article in </a:t>
            </a:r>
            <a:r>
              <a:rPr lang="en-US" altLang="ko-Kore-KR" sz="2000" dirty="0" err="1"/>
              <a:t>eclass</a:t>
            </a:r>
            <a:r>
              <a:rPr lang="en-US" altLang="ko-Kore-KR" sz="2000" dirty="0"/>
              <a:t> (homework 0), stating that you are the only member in your team</a:t>
            </a:r>
          </a:p>
          <a:p>
            <a:pPr lvl="2">
              <a:defRPr/>
            </a:pPr>
            <a:r>
              <a:rPr lang="en-US" altLang="ko-Kore-KR" sz="1400" dirty="0"/>
              <a:t>If you don’t register your team in </a:t>
            </a:r>
            <a:r>
              <a:rPr lang="en-US" altLang="ko-Kore-KR" sz="1400" dirty="0" err="1"/>
              <a:t>hw</a:t>
            </a:r>
            <a:r>
              <a:rPr lang="en-US" altLang="ko-Kore-KR" sz="1400" dirty="0"/>
              <a:t> 0, I will assume you belong to “size 1 team”.</a:t>
            </a:r>
          </a:p>
          <a:p>
            <a:pPr lvl="1">
              <a:defRPr/>
            </a:pPr>
            <a:r>
              <a:rPr lang="en-US" altLang="ko-Kore-KR" sz="2000" dirty="0"/>
              <a:t>In this case, you also need to do project 1, 2, 3, 4 as follows. </a:t>
            </a:r>
          </a:p>
          <a:p>
            <a:pPr lvl="2">
              <a:defRPr/>
            </a:pPr>
            <a:r>
              <a:rPr lang="en-US" altLang="ko-Kore-KR" sz="2000" dirty="0"/>
              <a:t>project 1, 2, and 3 as individual project. </a:t>
            </a:r>
          </a:p>
          <a:p>
            <a:pPr lvl="2">
              <a:defRPr/>
            </a:pPr>
            <a:r>
              <a:rPr lang="en-US" altLang="ko-Kore-KR" sz="2000" dirty="0"/>
              <a:t>project 4 as team project </a:t>
            </a:r>
          </a:p>
          <a:p>
            <a:pPr lvl="3">
              <a:defRPr/>
            </a:pPr>
            <a:r>
              <a:rPr lang="en-US" altLang="ko-Kore-KR" dirty="0"/>
              <a:t>you need to submit source code, executable code,      project report, and video file for your </a:t>
            </a:r>
            <a:r>
              <a:rPr lang="en-US" altLang="ko-Kore-KR" dirty="0" err="1"/>
              <a:t>proj</a:t>
            </a:r>
            <a:r>
              <a:rPr lang="en-US" altLang="ko-Kore-KR" dirty="0"/>
              <a:t> presentation </a:t>
            </a:r>
          </a:p>
          <a:p>
            <a:pPr marL="1371600" lvl="3" indent="0">
              <a:buFont typeface="Wingdings" pitchFamily="2" charset="2"/>
              <a:buNone/>
              <a:defRPr/>
            </a:pPr>
            <a:r>
              <a:rPr lang="en-US" altLang="ko-Kore-KR" dirty="0"/>
              <a:t>   (there will be no class presentation in this case)</a:t>
            </a:r>
          </a:p>
          <a:p>
            <a:pPr marL="914400" lvl="2" indent="0">
              <a:buFont typeface="Wingdings" pitchFamily="2" charset="2"/>
              <a:buNone/>
              <a:defRPr/>
            </a:pPr>
            <a:endParaRPr lang="ko-Kore-KR" alt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1044</TotalTime>
  <Words>913</Words>
  <Application>Microsoft Macintosh PowerPoint</Application>
  <PresentationFormat>화면 슬라이드 쇼(4:3)</PresentationFormat>
  <Paragraphs>144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굴림</vt:lpstr>
      <vt:lpstr>맑은 고딕</vt:lpstr>
      <vt:lpstr>Arial</vt:lpstr>
      <vt:lpstr>Wingdings</vt:lpstr>
      <vt:lpstr>네모의 미</vt:lpstr>
      <vt:lpstr>Object Oriented Programming (OOP) Lecture 1 : Course Overview</vt:lpstr>
      <vt:lpstr>Course Overview</vt:lpstr>
      <vt:lpstr>Course Format</vt:lpstr>
      <vt:lpstr>Reference Books</vt:lpstr>
      <vt:lpstr>Evaluation</vt:lpstr>
      <vt:lpstr>Instructor Information</vt:lpstr>
      <vt:lpstr>Announcement</vt:lpstr>
      <vt:lpstr>Schedule</vt:lpstr>
      <vt:lpstr>Schedule</vt:lpstr>
      <vt:lpstr>Remarks</vt:lpstr>
      <vt:lpstr>Projects Plan</vt:lpstr>
      <vt:lpstr>If you have difficulty in making a team..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89</cp:revision>
  <dcterms:created xsi:type="dcterms:W3CDTF">2008-03-06T00:32:01Z</dcterms:created>
  <dcterms:modified xsi:type="dcterms:W3CDTF">2026-09-01T07:34:32Z</dcterms:modified>
</cp:coreProperties>
</file>