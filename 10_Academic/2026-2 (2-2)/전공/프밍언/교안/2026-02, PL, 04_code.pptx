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523" r:id="rId2"/>
    <p:sldId id="524" r:id="rId3"/>
    <p:sldId id="52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2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344" userDrawn="1">
          <p15:clr>
            <a:srgbClr val="A4A3A4"/>
          </p15:clr>
        </p15:guide>
        <p15:guide id="4" orient="horz" pos="22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5F9B"/>
    <a:srgbClr val="993300"/>
    <a:srgbClr val="002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5"/>
    <p:restoredTop sz="96266"/>
  </p:normalViewPr>
  <p:slideViewPr>
    <p:cSldViewPr snapToGrid="0" showGuides="1">
      <p:cViewPr varScale="1">
        <p:scale>
          <a:sx n="117" d="100"/>
          <a:sy n="117" d="100"/>
        </p:scale>
        <p:origin x="1936" y="168"/>
      </p:cViewPr>
      <p:guideLst>
        <p:guide orient="horz" pos="1842"/>
        <p:guide pos="2880"/>
        <p:guide orient="horz" pos="1344"/>
        <p:guide orient="horz" pos="2251"/>
      </p:guideLst>
    </p:cSldViewPr>
  </p:slideViewPr>
  <p:outlineViewPr>
    <p:cViewPr>
      <p:scale>
        <a:sx n="33" d="100"/>
        <a:sy n="33" d="100"/>
      </p:scale>
      <p:origin x="0" y="-13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CFEC0-2D11-C946-8B60-03F0A1742F1A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E4D227-DBEA-1A41-A4C2-64B2CFE10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71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4D227-DBEA-1A41-A4C2-64B2CFE107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47DA6-E7EE-BA3E-46F2-5F05E34CD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133850-BF6B-935C-2F5B-E575B633B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16FBF-8852-9F09-229E-9653190D7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618E4-ED87-6EB4-40EB-32EC169D5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4D227-DBEA-1A41-A4C2-64B2CFE107F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9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37F715D-8DFC-F463-5CD2-726A39EFB84A}"/>
              </a:ext>
            </a:extLst>
          </p:cNvPr>
          <p:cNvSpPr/>
          <p:nvPr userDrawn="1"/>
        </p:nvSpPr>
        <p:spPr>
          <a:xfrm>
            <a:off x="0" y="6489601"/>
            <a:ext cx="9144000" cy="368399"/>
          </a:xfrm>
          <a:prstGeom prst="roundRect">
            <a:avLst>
              <a:gd name="adj" fmla="val 0"/>
            </a:avLst>
          </a:prstGeom>
          <a:solidFill>
            <a:srgbClr val="2069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8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2167D36-1F95-0805-2699-0578836BFC97}"/>
              </a:ext>
            </a:extLst>
          </p:cNvPr>
          <p:cNvSpPr/>
          <p:nvPr userDrawn="1"/>
        </p:nvSpPr>
        <p:spPr>
          <a:xfrm rot="5400000">
            <a:off x="4756198" y="2101802"/>
            <a:ext cx="6489603" cy="2286000"/>
          </a:xfrm>
          <a:prstGeom prst="roundRect">
            <a:avLst>
              <a:gd name="adj" fmla="val 0"/>
            </a:avLst>
          </a:prstGeom>
          <a:solidFill>
            <a:srgbClr val="D7E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299" y="6567854"/>
            <a:ext cx="6655777" cy="223961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Chung-Ang University CSE </a:t>
            </a:r>
            <a:r>
              <a:rPr lang="en-US" altLang="ko-KR" dirty="0"/>
              <a:t>22405</a:t>
            </a:r>
            <a:r>
              <a:rPr lang="en-US" dirty="0"/>
              <a:t>: Principles of Programming Languages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72300" y="6567854"/>
            <a:ext cx="2057400" cy="22396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E90C5124-48CC-2644-B0CE-A38469C655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BFDB1B0C-8A0C-B6F1-4904-23765BE0F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008" y="1584950"/>
            <a:ext cx="5839490" cy="1650018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16CA4D5B-EC25-3DE9-1A62-92E3B1CB0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008" y="3633840"/>
            <a:ext cx="5839490" cy="2148252"/>
          </a:xfrm>
        </p:spPr>
        <p:txBody>
          <a:bodyPr>
            <a:normAutofit/>
          </a:bodyPr>
          <a:lstStyle>
            <a:lvl1pPr marL="0" indent="0" algn="l">
              <a:buNone/>
              <a:defRPr sz="20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Line 1032">
            <a:extLst>
              <a:ext uri="{FF2B5EF4-FFF2-40B4-BE49-F238E27FC236}">
                <a16:creationId xmlns:a16="http://schemas.microsoft.com/office/drawing/2014/main" id="{9CAE58D8-CE2F-43E6-020E-89E712CC763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2401" y="3434404"/>
            <a:ext cx="6300000" cy="0"/>
          </a:xfrm>
          <a:prstGeom prst="line">
            <a:avLst/>
          </a:prstGeom>
          <a:noFill/>
          <a:ln w="25400">
            <a:solidFill>
              <a:schemeClr val="tx2">
                <a:lumMod val="75000"/>
                <a:lumOff val="2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KR"/>
          </a:p>
        </p:txBody>
      </p:sp>
      <p:sp>
        <p:nvSpPr>
          <p:cNvPr id="28" name="Line 1033">
            <a:extLst>
              <a:ext uri="{FF2B5EF4-FFF2-40B4-BE49-F238E27FC236}">
                <a16:creationId xmlns:a16="http://schemas.microsoft.com/office/drawing/2014/main" id="{CF0F2680-C609-B11C-138F-B1FFE70DC9D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16171" y="2022235"/>
            <a:ext cx="0" cy="3240000"/>
          </a:xfrm>
          <a:prstGeom prst="line">
            <a:avLst/>
          </a:prstGeom>
          <a:noFill/>
          <a:ln w="25400">
            <a:solidFill>
              <a:schemeClr val="tx2">
                <a:lumMod val="75000"/>
                <a:lumOff val="2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KR"/>
          </a:p>
        </p:txBody>
      </p:sp>
      <p:pic>
        <p:nvPicPr>
          <p:cNvPr id="2054" name="Picture 6" descr="중앙대 중앙도서관">
            <a:extLst>
              <a:ext uri="{FF2B5EF4-FFF2-40B4-BE49-F238E27FC236}">
                <a16:creationId xmlns:a16="http://schemas.microsoft.com/office/drawing/2014/main" id="{036AB6DE-A6E7-EAD9-3C20-CC8A7F6B958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55" r="31047"/>
          <a:stretch/>
        </p:blipFill>
        <p:spPr bwMode="auto">
          <a:xfrm>
            <a:off x="6857999" y="0"/>
            <a:ext cx="2286001" cy="6501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8302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EDB0A12-1E35-83C2-4205-E8C12D7390C4}"/>
              </a:ext>
            </a:extLst>
          </p:cNvPr>
          <p:cNvSpPr/>
          <p:nvPr userDrawn="1"/>
        </p:nvSpPr>
        <p:spPr>
          <a:xfrm>
            <a:off x="0" y="6489601"/>
            <a:ext cx="9144000" cy="368399"/>
          </a:xfrm>
          <a:prstGeom prst="roundRect">
            <a:avLst>
              <a:gd name="adj" fmla="val 0"/>
            </a:avLst>
          </a:prstGeom>
          <a:solidFill>
            <a:srgbClr val="2069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" y="64531"/>
            <a:ext cx="8238677" cy="855942"/>
          </a:xfrm>
        </p:spPr>
        <p:txBody>
          <a:bodyPr lIns="91440" tIns="0" rIns="0" bIns="0" anchor="ctr">
            <a:normAutofit/>
          </a:bodyPr>
          <a:lstStyle>
            <a:lvl1pPr>
              <a:defRPr sz="3600" b="1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Malgun Gothic" panose="020B0503020000020004" pitchFamily="34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" y="998726"/>
            <a:ext cx="8807236" cy="5424690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itchFamily="2" charset="2"/>
              <a:buChar char="§"/>
              <a:defRPr sz="2400" b="1">
                <a:latin typeface="+mn-lt"/>
                <a:ea typeface="Malgun Gothic" panose="020B0503020000020004" pitchFamily="34" charset="-127"/>
              </a:defRPr>
            </a:lvl1pPr>
            <a:lvl2pPr marL="444500" indent="-1778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2000">
                <a:latin typeface="+mn-lt"/>
                <a:ea typeface="Malgun Gothic" panose="020B0503020000020004" pitchFamily="34" charset="-127"/>
              </a:defRPr>
            </a:lvl2pPr>
            <a:lvl3pPr marL="625475" indent="-176213">
              <a:lnSpc>
                <a:spcPct val="100000"/>
              </a:lnSpc>
              <a:buFont typeface="System Font Regular"/>
              <a:buChar char="-"/>
              <a:tabLst/>
              <a:defRPr sz="1800">
                <a:latin typeface="+mn-lt"/>
                <a:ea typeface="Malgun Gothic" panose="020B0503020000020004" pitchFamily="34" charset="-127"/>
              </a:defRPr>
            </a:lvl3pPr>
            <a:lvl4pPr marL="801688" indent="-176213">
              <a:lnSpc>
                <a:spcPct val="100000"/>
              </a:lnSpc>
              <a:tabLst/>
              <a:defRPr sz="1600">
                <a:latin typeface="+mn-lt"/>
                <a:ea typeface="Malgun Gothic" panose="020B0503020000020004" pitchFamily="34" charset="-127"/>
              </a:defRPr>
            </a:lvl4pPr>
            <a:lvl5pPr marL="981075" indent="-173038">
              <a:lnSpc>
                <a:spcPct val="100000"/>
              </a:lnSpc>
              <a:tabLst/>
              <a:defRPr sz="1600">
                <a:latin typeface="+mn-lt"/>
                <a:ea typeface="Malgun Gothic" panose="020B0503020000020004" pitchFamily="34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logo with text and a square in the middle&#10;&#10;Description automatically generated">
            <a:extLst>
              <a:ext uri="{FF2B5EF4-FFF2-40B4-BE49-F238E27FC236}">
                <a16:creationId xmlns:a16="http://schemas.microsoft.com/office/drawing/2014/main" id="{09B90013-9AF9-09ED-9AD4-74A332C72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641" y="112360"/>
            <a:ext cx="731683" cy="731683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EB902C-7878-FD88-E2F5-12F8B8794114}"/>
              </a:ext>
            </a:extLst>
          </p:cNvPr>
          <p:cNvSpPr/>
          <p:nvPr userDrawn="1"/>
        </p:nvSpPr>
        <p:spPr>
          <a:xfrm>
            <a:off x="0" y="64532"/>
            <a:ext cx="168088" cy="855942"/>
          </a:xfrm>
          <a:prstGeom prst="roundRect">
            <a:avLst>
              <a:gd name="adj" fmla="val 0"/>
            </a:avLst>
          </a:prstGeom>
          <a:solidFill>
            <a:srgbClr val="2069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800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1E6AA443-042F-B4B3-4BFF-BDFC9A8D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299" y="6567854"/>
            <a:ext cx="6655777" cy="223961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Chung-Ang University CSE </a:t>
            </a:r>
            <a:r>
              <a:rPr lang="en-US" altLang="ko-KR" dirty="0"/>
              <a:t>22405</a:t>
            </a:r>
            <a:r>
              <a:rPr lang="en-US" dirty="0"/>
              <a:t>: Principles of Programming Languages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5477F80-8838-986E-65D4-1E3F433B2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2300" y="6567854"/>
            <a:ext cx="2057400" cy="22396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E90C5124-48CC-2644-B0CE-A38469C655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24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EDB0A12-1E35-83C2-4205-E8C12D7390C4}"/>
              </a:ext>
            </a:extLst>
          </p:cNvPr>
          <p:cNvSpPr/>
          <p:nvPr userDrawn="1"/>
        </p:nvSpPr>
        <p:spPr>
          <a:xfrm>
            <a:off x="0" y="6489601"/>
            <a:ext cx="9144000" cy="368399"/>
          </a:xfrm>
          <a:prstGeom prst="roundRect">
            <a:avLst>
              <a:gd name="adj" fmla="val 0"/>
            </a:avLst>
          </a:prstGeom>
          <a:solidFill>
            <a:srgbClr val="2069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88" y="125365"/>
            <a:ext cx="7963857" cy="795108"/>
          </a:xfrm>
        </p:spPr>
        <p:txBody>
          <a:bodyPr lIns="91440" tIns="0" rIns="0" bIns="0">
            <a:normAutofit/>
          </a:bodyPr>
          <a:lstStyle>
            <a:lvl1pPr>
              <a:defRPr sz="3600" b="1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88" y="1154097"/>
            <a:ext cx="8807236" cy="5022866"/>
          </a:xfrm>
        </p:spPr>
        <p:txBody>
          <a:bodyPr>
            <a:normAutofit/>
          </a:bodyPr>
          <a:lstStyle>
            <a:lvl1pPr>
              <a:defRPr sz="2000">
                <a:latin typeface="+mn-lt"/>
              </a:defRPr>
            </a:lvl1pPr>
            <a:lvl2pPr marL="515938" indent="-227013">
              <a:tabLst/>
              <a:defRPr sz="1800">
                <a:latin typeface="+mn-lt"/>
              </a:defRPr>
            </a:lvl2pPr>
            <a:lvl3pPr marL="857250" indent="-227013">
              <a:tabLst/>
              <a:defRPr sz="1600">
                <a:latin typeface="+mn-lt"/>
              </a:defRPr>
            </a:lvl3pPr>
            <a:lvl4pPr marL="1208088" indent="-236538">
              <a:tabLst/>
              <a:defRPr sz="1400">
                <a:latin typeface="+mn-lt"/>
              </a:defRPr>
            </a:lvl4pPr>
            <a:lvl5pPr marL="1487488" indent="-227013">
              <a:tabLst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logo with text and a square in the middle&#10;&#10;Description automatically generated">
            <a:extLst>
              <a:ext uri="{FF2B5EF4-FFF2-40B4-BE49-F238E27FC236}">
                <a16:creationId xmlns:a16="http://schemas.microsoft.com/office/drawing/2014/main" id="{09B90013-9AF9-09ED-9AD4-74A332C72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641" y="112360"/>
            <a:ext cx="731683" cy="731683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EB902C-7878-FD88-E2F5-12F8B8794114}"/>
              </a:ext>
            </a:extLst>
          </p:cNvPr>
          <p:cNvSpPr/>
          <p:nvPr userDrawn="1"/>
        </p:nvSpPr>
        <p:spPr>
          <a:xfrm>
            <a:off x="0" y="64532"/>
            <a:ext cx="168088" cy="855942"/>
          </a:xfrm>
          <a:prstGeom prst="roundRect">
            <a:avLst>
              <a:gd name="adj" fmla="val 0"/>
            </a:avLst>
          </a:prstGeom>
          <a:solidFill>
            <a:srgbClr val="2069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8088" y="6550434"/>
            <a:ext cx="6807364" cy="24303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Chung-Ang University CSE 58483: Design of Embedded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2904" y="6550433"/>
            <a:ext cx="1653644" cy="24303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E90C5124-48CC-2644-B0CE-A38469C655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25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Chung-Ang University CSE 58483: Design of Embedded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5124-48CC-2644-B0CE-A38469C65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97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Chung-Ang University CSE 58483: Design of Embedded System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5124-48CC-2644-B0CE-A38469C65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27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Chung-Ang University CSE 58483: Design of Embedded System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5124-48CC-2644-B0CE-A38469C65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1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Chung-Ang University CSE 58483: Design of Embedded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5124-48CC-2644-B0CE-A38469C65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20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Chung-Ang University CSE 58483: Design of Embedded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5124-48CC-2644-B0CE-A38469C65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48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Chung-Ang University CSE 58483: Design of Embedded System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5124-48CC-2644-B0CE-A38469C65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18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Chung-Ang University CSE 58483: Design of Embedded System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5124-48CC-2644-B0CE-A38469C65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4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Chung-Ang University CSE 58483: Design of Embedded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5124-48CC-2644-B0CE-A38469C65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31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Chung-Ang University CSE 58483: Design of Embedded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5124-48CC-2644-B0CE-A38469C65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1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Chung-Ang University CSE 58483: Design of Embedded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C5124-48CC-2644-B0CE-A38469C65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9CFF-B7A7-E4BC-5E34-133E9D22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363DE-E78A-0538-002E-35AA79983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C05C1-F827-4E82-3EEC-59EC2410C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Chung-Ang University CSE </a:t>
            </a:r>
            <a:r>
              <a:rPr lang="en-US" altLang="ko-KR"/>
              <a:t>22405</a:t>
            </a:r>
            <a:r>
              <a:rPr lang="en-US"/>
              <a:t>: Principles of Programming Languages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FE9EC-C933-C154-0E87-85D5384A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5124-48CC-2644-B0CE-A38469C65558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96E2206-E1A7-014A-82E9-169465166F8C}"/>
              </a:ext>
            </a:extLst>
          </p:cNvPr>
          <p:cNvGrpSpPr/>
          <p:nvPr/>
        </p:nvGrpSpPr>
        <p:grpSpPr>
          <a:xfrm>
            <a:off x="461914" y="1183102"/>
            <a:ext cx="3234797" cy="1145320"/>
            <a:chOff x="461914" y="1183102"/>
            <a:chExt cx="3234797" cy="1145320"/>
          </a:xfrm>
        </p:grpSpPr>
        <p:sp>
          <p:nvSpPr>
            <p:cNvPr id="7" name="Folded Corner 6">
              <a:extLst>
                <a:ext uri="{FF2B5EF4-FFF2-40B4-BE49-F238E27FC236}">
                  <a16:creationId xmlns:a16="http://schemas.microsoft.com/office/drawing/2014/main" id="{3D79516A-A35B-490B-FC5C-24A8B40F36AF}"/>
                </a:ext>
              </a:extLst>
            </p:cNvPr>
            <p:cNvSpPr/>
            <p:nvPr/>
          </p:nvSpPr>
          <p:spPr>
            <a:xfrm>
              <a:off x="461914" y="1552434"/>
              <a:ext cx="3214540" cy="775988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KR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(sum + 47) / total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B0B42DF-9EA1-4789-8440-6D6D6B78A3CC}"/>
                </a:ext>
              </a:extLst>
            </p:cNvPr>
            <p:cNvSpPr txBox="1"/>
            <p:nvPr/>
          </p:nvSpPr>
          <p:spPr>
            <a:xfrm>
              <a:off x="2498947" y="1183102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dirty="0">
                  <a:latin typeface="Consolas" panose="020B0609020204030204" pitchFamily="49" charset="0"/>
                  <a:cs typeface="Consolas" panose="020B0609020204030204" pitchFamily="49" charset="0"/>
                </a:rPr>
                <a:t>front.in</a:t>
              </a:r>
            </a:p>
          </p:txBody>
        </p:sp>
      </p:grpSp>
      <p:pic>
        <p:nvPicPr>
          <p:cNvPr id="10" name="Picture 9" descr="Text, letter&#10;&#10;Description automatically generated">
            <a:extLst>
              <a:ext uri="{FF2B5EF4-FFF2-40B4-BE49-F238E27FC236}">
                <a16:creationId xmlns:a16="http://schemas.microsoft.com/office/drawing/2014/main" id="{2C076E33-7E61-CD67-2C06-799B54194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33" y="2697754"/>
            <a:ext cx="6231884" cy="33078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1693A4-5350-3547-8124-3656EA42BCB2}"/>
              </a:ext>
            </a:extLst>
          </p:cNvPr>
          <p:cNvSpPr/>
          <p:nvPr/>
        </p:nvSpPr>
        <p:spPr>
          <a:xfrm>
            <a:off x="539026" y="3824444"/>
            <a:ext cx="5167519" cy="358218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ADEC05-6A09-016E-4BCB-6D9DA42EB89E}"/>
              </a:ext>
            </a:extLst>
          </p:cNvPr>
          <p:cNvSpPr/>
          <p:nvPr/>
        </p:nvSpPr>
        <p:spPr>
          <a:xfrm>
            <a:off x="4715032" y="1633290"/>
            <a:ext cx="4110087" cy="53523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KR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argc, </a:t>
            </a:r>
            <a:r>
              <a:rPr lang="en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KR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 argv)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B7DB30-738A-94ED-47F4-A0F245FA658A}"/>
              </a:ext>
            </a:extLst>
          </p:cNvPr>
          <p:cNvSpPr/>
          <p:nvPr/>
        </p:nvSpPr>
        <p:spPr>
          <a:xfrm>
            <a:off x="392234" y="3182758"/>
            <a:ext cx="786118" cy="358218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926350-077D-791A-AC39-933FFDC60B73}"/>
              </a:ext>
            </a:extLst>
          </p:cNvPr>
          <p:cNvCxnSpPr>
            <a:stCxn id="14" idx="3"/>
            <a:endCxn id="13" idx="2"/>
          </p:cNvCxnSpPr>
          <p:nvPr/>
        </p:nvCxnSpPr>
        <p:spPr>
          <a:xfrm flipV="1">
            <a:off x="1178352" y="2168525"/>
            <a:ext cx="5591724" cy="1193342"/>
          </a:xfrm>
          <a:prstGeom prst="straightConnector1">
            <a:avLst/>
          </a:prstGeom>
          <a:ln w="25400"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5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3F1C-9C88-4B1B-424C-D9BA875D3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04E4E-B5BA-EED0-EEF9-6D54C8273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C9BD8-68EE-F9CA-28E6-2FC270424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5D4A0-AD74-4E8E-434D-118051CF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Chung-Ang University CSE </a:t>
            </a:r>
            <a:r>
              <a:rPr lang="en-US" altLang="ko-KR"/>
              <a:t>22405</a:t>
            </a:r>
            <a:r>
              <a:rPr lang="en-US"/>
              <a:t>: Principles of Programming Languages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3B358-3EC5-2A90-DE06-B2373A3B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5124-48CC-2644-B0CE-A38469C65558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A91031-ADDE-E802-21F2-00FC5C6C00B1}"/>
              </a:ext>
            </a:extLst>
          </p:cNvPr>
          <p:cNvGrpSpPr/>
          <p:nvPr/>
        </p:nvGrpSpPr>
        <p:grpSpPr>
          <a:xfrm>
            <a:off x="461914" y="1183102"/>
            <a:ext cx="3234797" cy="1145320"/>
            <a:chOff x="461914" y="1183102"/>
            <a:chExt cx="3234797" cy="1145320"/>
          </a:xfrm>
        </p:grpSpPr>
        <p:sp>
          <p:nvSpPr>
            <p:cNvPr id="11" name="Folded Corner 10">
              <a:extLst>
                <a:ext uri="{FF2B5EF4-FFF2-40B4-BE49-F238E27FC236}">
                  <a16:creationId xmlns:a16="http://schemas.microsoft.com/office/drawing/2014/main" id="{6962D89D-9C75-9ADF-4C1B-9E57AD947106}"/>
                </a:ext>
              </a:extLst>
            </p:cNvPr>
            <p:cNvSpPr/>
            <p:nvPr/>
          </p:nvSpPr>
          <p:spPr>
            <a:xfrm>
              <a:off x="461914" y="1552434"/>
              <a:ext cx="3214540" cy="775988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KR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(sum + 47) / total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D11B3B-CDC3-E6DA-E61F-D1A02FA29A3B}"/>
                </a:ext>
              </a:extLst>
            </p:cNvPr>
            <p:cNvSpPr txBox="1"/>
            <p:nvPr/>
          </p:nvSpPr>
          <p:spPr>
            <a:xfrm>
              <a:off x="2498947" y="1183102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dirty="0">
                  <a:latin typeface="Consolas" panose="020B0609020204030204" pitchFamily="49" charset="0"/>
                  <a:cs typeface="Consolas" panose="020B0609020204030204" pitchFamily="49" charset="0"/>
                </a:rPr>
                <a:t>front.in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B3E28AC-10EA-6806-13C6-E31EF6C660B1}"/>
              </a:ext>
            </a:extLst>
          </p:cNvPr>
          <p:cNvSpPr txBox="1"/>
          <p:nvPr/>
        </p:nvSpPr>
        <p:spPr>
          <a:xfrm>
            <a:off x="200882" y="2598638"/>
            <a:ext cx="3493264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getChar()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nextChar = ‘(’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isalpha(nextChar) // F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isdigit(nextChar) // F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charClass = UNKNOWN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B582F9-16AE-1120-735A-CFF459826EEF}"/>
              </a:ext>
            </a:extLst>
          </p:cNvPr>
          <p:cNvSpPr txBox="1"/>
          <p:nvPr/>
        </p:nvSpPr>
        <p:spPr>
          <a:xfrm>
            <a:off x="200882" y="4511027"/>
            <a:ext cx="413446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lex()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lexLen = 0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getNonBlank()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switch(charClass) // UNKNOWN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lookup</a:t>
            </a:r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(nextChar)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getChar</a:t>
            </a:r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(nextToken, lexeme)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9AD99D-8FD9-4121-D515-F419C2996E22}"/>
              </a:ext>
            </a:extLst>
          </p:cNvPr>
          <p:cNvSpPr txBox="1"/>
          <p:nvPr/>
        </p:nvSpPr>
        <p:spPr>
          <a:xfrm>
            <a:off x="4572000" y="2598638"/>
            <a:ext cx="376417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lookup(char </a:t>
            </a:r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switch(ch) // ‘(’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addChar</a:t>
            </a:r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- nextToken = LEFT_PAREN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CEE7B6-2656-2392-7E96-28DA31392791}"/>
              </a:ext>
            </a:extLst>
          </p:cNvPr>
          <p:cNvSpPr txBox="1"/>
          <p:nvPr/>
        </p:nvSpPr>
        <p:spPr>
          <a:xfrm>
            <a:off x="4571706" y="3969696"/>
            <a:ext cx="4011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addChar()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lexeme[lexLen++] = nextChar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lexeme[lexLen] = 0 // 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3122E0-F7F4-5420-14A1-01F907583D2E}"/>
              </a:ext>
            </a:extLst>
          </p:cNvPr>
          <p:cNvSpPr txBox="1"/>
          <p:nvPr/>
        </p:nvSpPr>
        <p:spPr>
          <a:xfrm>
            <a:off x="4287426" y="592647"/>
            <a:ext cx="3697077" cy="175432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charClass = </a:t>
            </a:r>
          </a:p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lexeme[100] = </a:t>
            </a:r>
          </a:p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nextChar =</a:t>
            </a:r>
          </a:p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lexLen = </a:t>
            </a:r>
          </a:p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token = </a:t>
            </a:r>
          </a:p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nextToken 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3490F9-D72B-2600-341C-964303E7C5F6}"/>
              </a:ext>
            </a:extLst>
          </p:cNvPr>
          <p:cNvSpPr txBox="1"/>
          <p:nvPr/>
        </p:nvSpPr>
        <p:spPr>
          <a:xfrm>
            <a:off x="5859493" y="581978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UNKHOWN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5D6BE1-69F3-6D85-9609-8337EA0B70AB}"/>
              </a:ext>
            </a:extLst>
          </p:cNvPr>
          <p:cNvSpPr txBox="1"/>
          <p:nvPr/>
        </p:nvSpPr>
        <p:spPr>
          <a:xfrm>
            <a:off x="5728449" y="1142587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‘(‘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8C791D-32D0-1E90-F0DA-89FD60824C03}"/>
              </a:ext>
            </a:extLst>
          </p:cNvPr>
          <p:cNvSpPr txBox="1"/>
          <p:nvPr/>
        </p:nvSpPr>
        <p:spPr>
          <a:xfrm>
            <a:off x="5437117" y="141277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56063C-11E1-9EAC-5A66-B9660CA93E23}"/>
              </a:ext>
            </a:extLst>
          </p:cNvPr>
          <p:cNvSpPr txBox="1"/>
          <p:nvPr/>
        </p:nvSpPr>
        <p:spPr>
          <a:xfrm>
            <a:off x="6075767" y="86164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“(”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4557C0-FB7C-99CB-B926-1DE605B6DB2B}"/>
              </a:ext>
            </a:extLst>
          </p:cNvPr>
          <p:cNvSpPr txBox="1"/>
          <p:nvPr/>
        </p:nvSpPr>
        <p:spPr>
          <a:xfrm>
            <a:off x="5457575" y="1410497"/>
            <a:ext cx="32252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BEC66D-B47D-6BA9-87D2-C05810E118E2}"/>
              </a:ext>
            </a:extLst>
          </p:cNvPr>
          <p:cNvSpPr txBox="1"/>
          <p:nvPr/>
        </p:nvSpPr>
        <p:spPr>
          <a:xfrm>
            <a:off x="6077337" y="863211"/>
            <a:ext cx="87395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“(\0”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7E125D-8616-E2F8-F7AA-07D3A6C6E3EB}"/>
              </a:ext>
            </a:extLst>
          </p:cNvPr>
          <p:cNvSpPr txBox="1"/>
          <p:nvPr/>
        </p:nvSpPr>
        <p:spPr>
          <a:xfrm>
            <a:off x="5873489" y="195957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LEFT_PAREN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2B026A-32EE-4B31-34CE-3F062E91EB87}"/>
              </a:ext>
            </a:extLst>
          </p:cNvPr>
          <p:cNvSpPr txBox="1"/>
          <p:nvPr/>
        </p:nvSpPr>
        <p:spPr>
          <a:xfrm>
            <a:off x="4571706" y="5249691"/>
            <a:ext cx="3393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getChar()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nextChar = ‘s’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isalpha(nextChar) // T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charClass = LETTER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101286-7069-508C-DB8E-DA79D85B1272}"/>
              </a:ext>
            </a:extLst>
          </p:cNvPr>
          <p:cNvSpPr txBox="1"/>
          <p:nvPr/>
        </p:nvSpPr>
        <p:spPr>
          <a:xfrm>
            <a:off x="5728449" y="1145058"/>
            <a:ext cx="59824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‘s’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C7F102-1110-94B0-F61D-13A452A253DF}"/>
              </a:ext>
            </a:extLst>
          </p:cNvPr>
          <p:cNvSpPr txBox="1"/>
          <p:nvPr/>
        </p:nvSpPr>
        <p:spPr>
          <a:xfrm>
            <a:off x="5878347" y="574849"/>
            <a:ext cx="10118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LETTER</a:t>
            </a:r>
          </a:p>
        </p:txBody>
      </p:sp>
    </p:spTree>
    <p:extLst>
      <p:ext uri="{BB962C8B-B14F-4D97-AF65-F5344CB8AC3E}">
        <p14:creationId xmlns:p14="http://schemas.microsoft.com/office/powerpoint/2010/main" val="238946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2" grpId="0"/>
      <p:bldP spid="23" grpId="0" animBg="1"/>
      <p:bldP spid="24" grpId="0" animBg="1"/>
      <p:bldP spid="25" grpId="0"/>
      <p:bldP spid="29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F4A79-D79A-7907-F5F1-6719FA5F1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5DA02-EC71-9B79-1480-4A4A1DE06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64910-57CF-3709-0B35-332F78D86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CA9AA-869B-A1F0-F93E-C32D805A4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Chung-Ang University CSE </a:t>
            </a:r>
            <a:r>
              <a:rPr lang="en-US" altLang="ko-KR"/>
              <a:t>22405</a:t>
            </a:r>
            <a:r>
              <a:rPr lang="en-US"/>
              <a:t>: Principles of Programming Languages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4A9F6-4DD9-D661-77FA-5EABE79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C5124-48CC-2644-B0CE-A38469C65558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5251D8-B30D-0065-CC85-7F858893DDA7}"/>
              </a:ext>
            </a:extLst>
          </p:cNvPr>
          <p:cNvGrpSpPr/>
          <p:nvPr/>
        </p:nvGrpSpPr>
        <p:grpSpPr>
          <a:xfrm>
            <a:off x="461914" y="1183102"/>
            <a:ext cx="3234797" cy="1145320"/>
            <a:chOff x="461914" y="1183102"/>
            <a:chExt cx="3234797" cy="1145320"/>
          </a:xfrm>
        </p:grpSpPr>
        <p:sp>
          <p:nvSpPr>
            <p:cNvPr id="11" name="Folded Corner 10">
              <a:extLst>
                <a:ext uri="{FF2B5EF4-FFF2-40B4-BE49-F238E27FC236}">
                  <a16:creationId xmlns:a16="http://schemas.microsoft.com/office/drawing/2014/main" id="{9EFBE157-451E-2CC0-1405-733848D9B1CA}"/>
                </a:ext>
              </a:extLst>
            </p:cNvPr>
            <p:cNvSpPr/>
            <p:nvPr/>
          </p:nvSpPr>
          <p:spPr>
            <a:xfrm>
              <a:off x="461914" y="1552434"/>
              <a:ext cx="3214540" cy="775988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KR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(sum + 47) / total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4D1F14-6615-090F-DF99-34BF012DA18B}"/>
                </a:ext>
              </a:extLst>
            </p:cNvPr>
            <p:cNvSpPr txBox="1"/>
            <p:nvPr/>
          </p:nvSpPr>
          <p:spPr>
            <a:xfrm>
              <a:off x="2498947" y="1183102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dirty="0">
                  <a:latin typeface="Consolas" panose="020B0609020204030204" pitchFamily="49" charset="0"/>
                  <a:cs typeface="Consolas" panose="020B0609020204030204" pitchFamily="49" charset="0"/>
                </a:rPr>
                <a:t>front.in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7378998-662A-06D2-63BF-238BED3C2986}"/>
              </a:ext>
            </a:extLst>
          </p:cNvPr>
          <p:cNvSpPr txBox="1"/>
          <p:nvPr/>
        </p:nvSpPr>
        <p:spPr>
          <a:xfrm>
            <a:off x="200882" y="2629064"/>
            <a:ext cx="4504759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lex()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lexLen = 0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getNonBlank</a:t>
            </a:r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switch(charClass) // LETTER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addChar</a:t>
            </a:r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getChar</a:t>
            </a:r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(charClass == LETTER ||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charClass == DIGIT) 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 </a:t>
            </a:r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addChar</a:t>
            </a:r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 </a:t>
            </a:r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getChar</a:t>
            </a:r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</a:t>
            </a:r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(nextToken, lexeme)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DAAC8B-6B80-F2CA-74C9-7EA881AE55AB}"/>
              </a:ext>
            </a:extLst>
          </p:cNvPr>
          <p:cNvSpPr txBox="1"/>
          <p:nvPr/>
        </p:nvSpPr>
        <p:spPr>
          <a:xfrm>
            <a:off x="4571706" y="2629064"/>
            <a:ext cx="40110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addChar()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lexeme[lexLen++] = nextChar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lexeme[lexLen] = 0; // 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DCE3C9-2B17-45E0-893D-5E3603E7D3AC}"/>
              </a:ext>
            </a:extLst>
          </p:cNvPr>
          <p:cNvSpPr txBox="1"/>
          <p:nvPr/>
        </p:nvSpPr>
        <p:spPr>
          <a:xfrm>
            <a:off x="4287426" y="592647"/>
            <a:ext cx="3697077" cy="175432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charClass = </a:t>
            </a:r>
          </a:p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lexeme[100] = </a:t>
            </a:r>
          </a:p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nextChar =</a:t>
            </a:r>
          </a:p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lexLen = </a:t>
            </a:r>
          </a:p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token = </a:t>
            </a:r>
          </a:p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nextToken =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6D115B-DB03-2D2A-79C9-831D3304939E}"/>
              </a:ext>
            </a:extLst>
          </p:cNvPr>
          <p:cNvSpPr txBox="1"/>
          <p:nvPr/>
        </p:nvSpPr>
        <p:spPr>
          <a:xfrm>
            <a:off x="5437117" y="141277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D920A7-BE0D-D3F1-8065-1C6133704D0D}"/>
              </a:ext>
            </a:extLst>
          </p:cNvPr>
          <p:cNvSpPr txBox="1"/>
          <p:nvPr/>
        </p:nvSpPr>
        <p:spPr>
          <a:xfrm>
            <a:off x="5457575" y="1410497"/>
            <a:ext cx="32252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140C8E-A20D-8CAA-9D9A-F82B7FAC9E37}"/>
              </a:ext>
            </a:extLst>
          </p:cNvPr>
          <p:cNvSpPr txBox="1"/>
          <p:nvPr/>
        </p:nvSpPr>
        <p:spPr>
          <a:xfrm>
            <a:off x="6121713" y="863211"/>
            <a:ext cx="87395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“s\0”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59990-4B88-2CDA-B089-A87756C22987}"/>
              </a:ext>
            </a:extLst>
          </p:cNvPr>
          <p:cNvSpPr txBox="1"/>
          <p:nvPr/>
        </p:nvSpPr>
        <p:spPr>
          <a:xfrm>
            <a:off x="5873489" y="195957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LEFT_PAREN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47DDFF-6242-80BC-4412-57F8E10778D7}"/>
              </a:ext>
            </a:extLst>
          </p:cNvPr>
          <p:cNvSpPr txBox="1"/>
          <p:nvPr/>
        </p:nvSpPr>
        <p:spPr>
          <a:xfrm>
            <a:off x="4571706" y="3460061"/>
            <a:ext cx="3393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getChar()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nextChar = ‘u’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isalpha(nextChar) // T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charClass = LETTER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F90357-C2BE-F06D-54E8-9D5FAA0E2794}"/>
              </a:ext>
            </a:extLst>
          </p:cNvPr>
          <p:cNvSpPr txBox="1"/>
          <p:nvPr/>
        </p:nvSpPr>
        <p:spPr>
          <a:xfrm>
            <a:off x="5728449" y="1145058"/>
            <a:ext cx="59824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‘s’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67BADB-9D01-8B6A-D0BA-47712145DA5E}"/>
              </a:ext>
            </a:extLst>
          </p:cNvPr>
          <p:cNvSpPr txBox="1"/>
          <p:nvPr/>
        </p:nvSpPr>
        <p:spPr>
          <a:xfrm>
            <a:off x="5868979" y="574849"/>
            <a:ext cx="10118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LETTER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29C9AB-E12C-9ED4-2E82-73C31184AA17}"/>
              </a:ext>
            </a:extLst>
          </p:cNvPr>
          <p:cNvSpPr txBox="1"/>
          <p:nvPr/>
        </p:nvSpPr>
        <p:spPr>
          <a:xfrm>
            <a:off x="6121713" y="863612"/>
            <a:ext cx="10118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“su\0”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0A343D-DA9D-93AF-3A1C-29923AF27B3E}"/>
              </a:ext>
            </a:extLst>
          </p:cNvPr>
          <p:cNvSpPr txBox="1"/>
          <p:nvPr/>
        </p:nvSpPr>
        <p:spPr>
          <a:xfrm>
            <a:off x="6121541" y="863612"/>
            <a:ext cx="114967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“sum\0”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83097A-5806-48AB-E634-1FFD1EBD71D1}"/>
              </a:ext>
            </a:extLst>
          </p:cNvPr>
          <p:cNvSpPr txBox="1"/>
          <p:nvPr/>
        </p:nvSpPr>
        <p:spPr>
          <a:xfrm>
            <a:off x="5722567" y="1144665"/>
            <a:ext cx="59824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‘u’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5FB5F4-6065-5972-08CD-89257569DD6D}"/>
              </a:ext>
            </a:extLst>
          </p:cNvPr>
          <p:cNvSpPr txBox="1"/>
          <p:nvPr/>
        </p:nvSpPr>
        <p:spPr>
          <a:xfrm>
            <a:off x="5724904" y="1144665"/>
            <a:ext cx="59824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dirty="0">
                <a:latin typeface="Courier New" panose="02070309020205020404" pitchFamily="49" charset="0"/>
                <a:cs typeface="Courier New" panose="02070309020205020404" pitchFamily="49" charset="0"/>
              </a:rPr>
              <a:t>‘m’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9D4C1D-9ECC-FF3E-1C0E-CBB3F73FA7E3}"/>
              </a:ext>
            </a:extLst>
          </p:cNvPr>
          <p:cNvSpPr txBox="1"/>
          <p:nvPr/>
        </p:nvSpPr>
        <p:spPr>
          <a:xfrm>
            <a:off x="4567526" y="2630638"/>
            <a:ext cx="4011034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addChar()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lexeme[lexLen++] = nextChar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lexeme[lexLen] = 0; // NULL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ECC0C9-AF1B-EBDD-6082-79DDF1A3EFC1}"/>
              </a:ext>
            </a:extLst>
          </p:cNvPr>
          <p:cNvSpPr txBox="1"/>
          <p:nvPr/>
        </p:nvSpPr>
        <p:spPr>
          <a:xfrm>
            <a:off x="4567526" y="3461635"/>
            <a:ext cx="3393878" cy="132343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getChar()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nextChar = ‘ ’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isalpha(nextChar) // F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isdigit(nextChar) // F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charClass = UNKNOWN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9FFF6D-CD09-0128-5FBB-4769C0D526A6}"/>
              </a:ext>
            </a:extLst>
          </p:cNvPr>
          <p:cNvSpPr txBox="1"/>
          <p:nvPr/>
        </p:nvSpPr>
        <p:spPr>
          <a:xfrm>
            <a:off x="4567526" y="4839619"/>
            <a:ext cx="2776722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getNonBlank()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isspace(nextChar)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- </a:t>
            </a:r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getChar</a:t>
            </a:r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918584-20A9-A158-CD17-9434A2180D28}"/>
              </a:ext>
            </a:extLst>
          </p:cNvPr>
          <p:cNvSpPr txBox="1"/>
          <p:nvPr/>
        </p:nvSpPr>
        <p:spPr>
          <a:xfrm>
            <a:off x="4590625" y="4888504"/>
            <a:ext cx="3393878" cy="132343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getChar()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nextChar = ‘+’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isalpha(nextChar) // F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isdigit(nextChar) // F</a:t>
            </a:r>
          </a:p>
          <a:p>
            <a:r>
              <a:rPr lang="en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 charClass = UNKNOWN</a:t>
            </a:r>
          </a:p>
        </p:txBody>
      </p:sp>
    </p:spTree>
    <p:extLst>
      <p:ext uri="{BB962C8B-B14F-4D97-AF65-F5344CB8AC3E}">
        <p14:creationId xmlns:p14="http://schemas.microsoft.com/office/powerpoint/2010/main" val="359928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8" grpId="0"/>
      <p:bldP spid="8" grpId="0" animBg="1"/>
      <p:bldP spid="10" grpId="0" animBg="1"/>
      <p:bldP spid="19" grpId="0" animBg="1"/>
      <p:bldP spid="26" grpId="0" animBg="1"/>
      <p:bldP spid="27" grpId="0" animBg="1"/>
      <p:bldP spid="31" grpId="0" animBg="1"/>
      <p:bldP spid="32" grpId="0" animBg="1"/>
      <p:bldP spid="3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5065</TotalTime>
  <Words>475</Words>
  <Application>Microsoft Macintosh PowerPoint</Application>
  <PresentationFormat>On-screen Show (4:3)</PresentationFormat>
  <Paragraphs>109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System Font Regular</vt:lpstr>
      <vt:lpstr>Aptos</vt:lpstr>
      <vt:lpstr>Aptos Display</vt:lpstr>
      <vt:lpstr>Arial</vt:lpstr>
      <vt:lpstr>Consolas</vt:lpstr>
      <vt:lpstr>Courier New</vt:lpstr>
      <vt:lpstr>Wingdings</vt:lpstr>
      <vt:lpstr>Office Theme</vt:lpstr>
      <vt:lpstr>Lexical Analysis</vt:lpstr>
      <vt:lpstr>Lexical Analysis</vt:lpstr>
      <vt:lpstr>Lexical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김진성</dc:creator>
  <cp:lastModifiedBy>김진성</cp:lastModifiedBy>
  <cp:revision>1621</cp:revision>
  <cp:lastPrinted>2026-09-29T01:42:14Z</cp:lastPrinted>
  <dcterms:created xsi:type="dcterms:W3CDTF">2025-03-03T13:18:41Z</dcterms:created>
  <dcterms:modified xsi:type="dcterms:W3CDTF">2026-09-29T06:29:01Z</dcterms:modified>
</cp:coreProperties>
</file>